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4030" r:id="rId5"/>
  </p:sldMasterIdLst>
  <p:notesMasterIdLst>
    <p:notesMasterId r:id="rId25"/>
  </p:notesMasterIdLst>
  <p:handoutMasterIdLst>
    <p:handoutMasterId r:id="rId26"/>
  </p:handoutMasterIdLst>
  <p:sldIdLst>
    <p:sldId id="2147479797" r:id="rId6"/>
    <p:sldId id="2147468869" r:id="rId7"/>
    <p:sldId id="10933" r:id="rId8"/>
    <p:sldId id="2147479837" r:id="rId9"/>
    <p:sldId id="2147479838" r:id="rId10"/>
    <p:sldId id="2147479839" r:id="rId11"/>
    <p:sldId id="2147479840" r:id="rId12"/>
    <p:sldId id="2147479841" r:id="rId13"/>
    <p:sldId id="2147479843" r:id="rId14"/>
    <p:sldId id="2147479844" r:id="rId15"/>
    <p:sldId id="2147479845" r:id="rId16"/>
    <p:sldId id="2147479846" r:id="rId17"/>
    <p:sldId id="2147479847" r:id="rId18"/>
    <p:sldId id="2147479848" r:id="rId19"/>
    <p:sldId id="2147479849" r:id="rId20"/>
    <p:sldId id="2147479850" r:id="rId21"/>
    <p:sldId id="2147479842" r:id="rId22"/>
    <p:sldId id="2147469188" r:id="rId23"/>
    <p:sldId id="214746883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7373"/>
    <a:srgbClr val="006E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7" autoAdjust="0"/>
    <p:restoredTop sz="94660"/>
  </p:normalViewPr>
  <p:slideViewPr>
    <p:cSldViewPr snapToGrid="0">
      <p:cViewPr varScale="1">
        <p:scale>
          <a:sx n="62" d="100"/>
          <a:sy n="62" d="100"/>
        </p:scale>
        <p:origin x="884"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972538-B65D-0530-F9FB-53EE67D3D7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AB4DAAF-1E0D-1555-E15B-05FABC3B76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CFDF5D-1642-4838-B2AB-206DD7D5B9EA}" type="datetimeFigureOut">
              <a:rPr lang="en-US" smtClean="0"/>
              <a:t>08/06/24</a:t>
            </a:fld>
            <a:endParaRPr lang="en-US"/>
          </a:p>
        </p:txBody>
      </p:sp>
      <p:sp>
        <p:nvSpPr>
          <p:cNvPr id="4" name="Footer Placeholder 3">
            <a:extLst>
              <a:ext uri="{FF2B5EF4-FFF2-40B4-BE49-F238E27FC236}">
                <a16:creationId xmlns:a16="http://schemas.microsoft.com/office/drawing/2014/main" id="{79761A2C-391C-0EAF-7758-2CF0207F269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0D22E61-6596-D379-0842-0658170667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C3E16C-1538-488F-BAC1-15FB720A6677}" type="slidenum">
              <a:rPr lang="en-US" smtClean="0"/>
              <a:t>‹#›</a:t>
            </a:fld>
            <a:endParaRPr lang="en-US"/>
          </a:p>
        </p:txBody>
      </p:sp>
    </p:spTree>
    <p:extLst>
      <p:ext uri="{BB962C8B-B14F-4D97-AF65-F5344CB8AC3E}">
        <p14:creationId xmlns:p14="http://schemas.microsoft.com/office/powerpoint/2010/main" val="1403112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9F560A-D7BE-4670-BA42-9B268E62187E}" type="datetimeFigureOut">
              <a:t>08/06/24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986C8-A515-4B1C-A2FB-F5212F445F98}" type="slidenum">
              <a:t>‹#›</a:t>
            </a:fld>
            <a:endParaRPr lang="en-US"/>
          </a:p>
        </p:txBody>
      </p:sp>
    </p:spTree>
    <p:extLst>
      <p:ext uri="{BB962C8B-B14F-4D97-AF65-F5344CB8AC3E}">
        <p14:creationId xmlns:p14="http://schemas.microsoft.com/office/powerpoint/2010/main" val="2261956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35986C8-A515-4B1C-A2FB-F5212F445F98}" type="slidenum">
              <a:rPr lang="en-US" smtClean="0"/>
              <a:t>1</a:t>
            </a:fld>
            <a:endParaRPr lang="en-US"/>
          </a:p>
        </p:txBody>
      </p:sp>
    </p:spTree>
    <p:extLst>
      <p:ext uri="{BB962C8B-B14F-4D97-AF65-F5344CB8AC3E}">
        <p14:creationId xmlns:p14="http://schemas.microsoft.com/office/powerpoint/2010/main" val="4720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7525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56305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66521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9819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162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97586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0094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4105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8136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0366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4309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1405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8838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1126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00DE46-0EE1-45D2-B48A-453CE6C2809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30722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2F7027-B9B2-7A48-9669-F000E79216B3}" type="slidenum">
              <a:rPr kumimoji="0" lang="en-US" sz="1200" b="0" i="0" u="none" strike="noStrike" kern="1200" cap="none" spc="0" normalizeH="0" baseline="0" noProof="0" smtClean="0">
                <a:ln>
                  <a:noFill/>
                </a:ln>
                <a:solidFill>
                  <a:prstClr val="black"/>
                </a:solidFill>
                <a:effectLst/>
                <a:uLnTx/>
                <a:uFillTx/>
                <a:latin typeface="Myriad Pro Regular"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Myriad Pro Regular" charset="0"/>
              <a:ea typeface="+mn-ea"/>
              <a:cs typeface="+mn-cs"/>
            </a:endParaRPr>
          </a:p>
        </p:txBody>
      </p:sp>
    </p:spTree>
    <p:extLst>
      <p:ext uri="{BB962C8B-B14F-4D97-AF65-F5344CB8AC3E}">
        <p14:creationId xmlns:p14="http://schemas.microsoft.com/office/powerpoint/2010/main" val="359564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2.xml"/><Relationship Id="rId6" Type="http://schemas.openxmlformats.org/officeDocument/2006/relationships/image" Target="../media/image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08/06/24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08/06/24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08/06/24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08/06/24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08/06/24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08/06/24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08/06/24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08/06/24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08/06/24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08/06/24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08/06/24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22514007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2024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665113660"/>
      </p:ext>
    </p:extLst>
  </p:cSld>
  <p:clrMapOvr>
    <a:masterClrMapping/>
  </p:clrMapOvr>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4068864"/>
      </p:ext>
    </p:extLst>
  </p:cSld>
  <p:clrMapOvr>
    <a:masterClrMapping/>
  </p:clrMapOvr>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1623033376"/>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2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3432362"/>
      </p:ext>
    </p:extLst>
  </p:cSld>
  <p:clrMapOvr>
    <a:masterClrMapping/>
  </p:clrMapOvr>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vl1pPr>
            <a:lvl2pPr marL="182880" indent="0">
              <a:buNone/>
              <a:defRPr/>
            </a:lvl2pPr>
            <a:lvl3pPr marL="365760" indent="0">
              <a:buNone/>
              <a:defRPr/>
            </a:lvl3pPr>
            <a:lvl4pPr marL="548640" indent="0">
              <a:buNone/>
              <a:defRPr/>
            </a:lvl4pPr>
            <a:lvl5pPr marL="731520" indent="0">
              <a:buNone/>
              <a:defRPr/>
            </a:lvl5pPr>
          </a:lstStyle>
          <a:p>
            <a:r>
              <a:rPr lang="en-US"/>
              <a:t>Agenda items are Arial Regular 18pt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Tree>
    <p:extLst>
      <p:ext uri="{BB962C8B-B14F-4D97-AF65-F5344CB8AC3E}">
        <p14:creationId xmlns:p14="http://schemas.microsoft.com/office/powerpoint/2010/main" val="4076639641"/>
      </p:ext>
    </p:extLst>
  </p:cSld>
  <p:clrMapOvr>
    <a:masterClrMapping/>
  </p:clrMapOvr>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76402"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76402"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1108263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42258349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414780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21342743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3221130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160⁺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a:t>
              </a:r>
              <a:r>
                <a:rPr lang="en-US" sz="1000" baseline="30000"/>
                <a:t>+</a:t>
              </a:r>
              <a:r>
                <a:rPr lang="en-US" sz="1000"/>
                <a:t>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14800403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a:solidFill>
                  <a:schemeClr val="tx1"/>
                </a:solidFill>
              </a:rPr>
              <a:t>Engineering change </a:t>
            </a:r>
            <a:br>
              <a:rPr lang="en-US">
                <a:solidFill>
                  <a:schemeClr val="tx1"/>
                </a:solidFill>
              </a:rPr>
            </a:br>
            <a:r>
              <a:rPr lang="en-US">
                <a:solidFill>
                  <a:schemeClr val="tx1"/>
                </a:solidFill>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2034161" cy="402342"/>
            <a:chOff x="505022" y="1208296"/>
            <a:chExt cx="2034161"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801501" cy="153888"/>
            </a:xfrm>
            <a:prstGeom prst="rect">
              <a:avLst/>
            </a:prstGeom>
            <a:noFill/>
          </p:spPr>
          <p:txBody>
            <a:bodyPr wrap="none" lIns="0" tIns="0" rIns="0" bIns="0" rtlCol="0">
              <a:spAutoFit/>
            </a:bodyPr>
            <a:lstStyle/>
            <a:p>
              <a:pPr>
                <a:lnSpc>
                  <a:spcPct val="100000"/>
                </a:lnSpc>
                <a:spcBef>
                  <a:spcPts val="1200"/>
                </a:spcBef>
                <a:buSzPct val="100000"/>
              </a:pPr>
              <a:r>
                <a:rPr lang="en-GB" sz="1000"/>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763303" cy="153888"/>
            </a:xfrm>
            <a:prstGeom prst="rect">
              <a:avLst/>
            </a:prstGeom>
            <a:noFill/>
          </p:spPr>
          <p:txBody>
            <a:bodyPr wrap="none" lIns="0" tIns="0" rIns="0" bIns="0" rtlCol="0">
              <a:spAutoFit/>
            </a:bodyPr>
            <a:lstStyle/>
            <a:p>
              <a:pPr>
                <a:lnSpc>
                  <a:spcPct val="100000"/>
                </a:lnSpc>
                <a:spcBef>
                  <a:spcPts val="1200"/>
                </a:spcBef>
                <a:buSzPct val="100000"/>
              </a:pPr>
              <a:r>
                <a:rPr lang="en-GB" sz="1000"/>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rial"/>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rial"/>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rial"/>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rial"/>
              <a:ea typeface="Calibri" panose="020F0502020204030204" pitchFamily="34" charset="0"/>
              <a:cs typeface="+mn-cs"/>
            </a:endParaRPr>
          </a:p>
        </p:txBody>
      </p:sp>
      <p:grpSp>
        <p:nvGrpSpPr>
          <p:cNvPr id="69" name="Group 68">
            <a:extLst>
              <a:ext uri="{FF2B5EF4-FFF2-40B4-BE49-F238E27FC236}">
                <a16:creationId xmlns:a16="http://schemas.microsoft.com/office/drawing/2014/main" id="{9E173899-FC7B-4BE3-9BC7-53C15B03EB64}"/>
              </a:ext>
            </a:extLst>
          </p:cNvPr>
          <p:cNvGrpSpPr/>
          <p:nvPr userDrawn="1"/>
        </p:nvGrpSpPr>
        <p:grpSpPr>
          <a:xfrm>
            <a:off x="2723182" y="1005421"/>
            <a:ext cx="9173580" cy="5426020"/>
            <a:chOff x="3447574" y="1191787"/>
            <a:chExt cx="8462652" cy="5005520"/>
          </a:xfrm>
        </p:grpSpPr>
        <p:grpSp>
          <p:nvGrpSpPr>
            <p:cNvPr id="113" name="Group 112">
              <a:extLst>
                <a:ext uri="{FF2B5EF4-FFF2-40B4-BE49-F238E27FC236}">
                  <a16:creationId xmlns:a16="http://schemas.microsoft.com/office/drawing/2014/main" id="{670F5184-1207-4E50-B56B-BBB5EB582EDF}"/>
                </a:ext>
              </a:extLst>
            </p:cNvPr>
            <p:cNvGrpSpPr/>
            <p:nvPr/>
          </p:nvGrpSpPr>
          <p:grpSpPr>
            <a:xfrm>
              <a:off x="3447574" y="2435709"/>
              <a:ext cx="8462652" cy="3761598"/>
              <a:chOff x="3447574" y="2435709"/>
              <a:chExt cx="8462652" cy="3761598"/>
            </a:xfrm>
          </p:grpSpPr>
          <p:sp>
            <p:nvSpPr>
              <p:cNvPr id="169" name="TextBox 168">
                <a:extLst>
                  <a:ext uri="{FF2B5EF4-FFF2-40B4-BE49-F238E27FC236}">
                    <a16:creationId xmlns:a16="http://schemas.microsoft.com/office/drawing/2014/main" id="{AD517FE9-7440-47D0-AB67-DEA0D347D467}"/>
                  </a:ext>
                </a:extLst>
              </p:cNvPr>
              <p:cNvSpPr txBox="1"/>
              <p:nvPr/>
            </p:nvSpPr>
            <p:spPr>
              <a:xfrm>
                <a:off x="3447574" y="2435709"/>
                <a:ext cx="1104645" cy="3659969"/>
              </a:xfrm>
              <a:prstGeom prst="rect">
                <a:avLst/>
              </a:prstGeom>
              <a:noFill/>
            </p:spPr>
            <p:txBody>
              <a:bodyPr wrap="none" lIns="0" tIns="0" rIns="0" bIns="0" rtlCol="0">
                <a:spAutoFit/>
              </a:bodyPr>
              <a:lstStyle/>
              <a:p>
                <a:pPr>
                  <a:lnSpc>
                    <a:spcPct val="110000"/>
                  </a:lnSpc>
                  <a:spcAft>
                    <a:spcPts val="100"/>
                  </a:spcAft>
                  <a:buSzPct val="100000"/>
                </a:pPr>
                <a:r>
                  <a:rPr lang="en-US" sz="1000" b="1"/>
                  <a:t>AMERICAS</a:t>
                </a:r>
              </a:p>
              <a:p>
                <a:pPr>
                  <a:lnSpc>
                    <a:spcPct val="110000"/>
                  </a:lnSpc>
                  <a:spcAft>
                    <a:spcPts val="100"/>
                  </a:spcAft>
                  <a:buSzPct val="100000"/>
                </a:pPr>
                <a:r>
                  <a:rPr lang="en-US" sz="1000">
                    <a:solidFill>
                      <a:schemeClr val="accent6"/>
                    </a:solidFill>
                  </a:rPr>
                  <a:t>Global HQ – Orange </a:t>
                </a:r>
                <a:br>
                  <a:rPr lang="en-US" sz="1000">
                    <a:solidFill>
                      <a:schemeClr val="accent6"/>
                    </a:solidFill>
                  </a:rPr>
                </a:br>
                <a:r>
                  <a:rPr lang="en-US" sz="1000">
                    <a:solidFill>
                      <a:schemeClr val="accent6"/>
                    </a:solidFill>
                  </a:rPr>
                  <a:t>County, CA</a:t>
                </a:r>
              </a:p>
              <a:p>
                <a:pPr>
                  <a:lnSpc>
                    <a:spcPct val="110000"/>
                  </a:lnSpc>
                  <a:spcAft>
                    <a:spcPts val="100"/>
                  </a:spcAft>
                  <a:buSzPct val="100000"/>
                </a:pPr>
                <a:r>
                  <a:rPr lang="en-US" sz="1000"/>
                  <a:t>Bentonville, AR</a:t>
                </a:r>
              </a:p>
              <a:p>
                <a:pPr>
                  <a:lnSpc>
                    <a:spcPct val="110000"/>
                  </a:lnSpc>
                  <a:spcAft>
                    <a:spcPts val="100"/>
                  </a:spcAft>
                  <a:buSzPct val="100000"/>
                </a:pPr>
                <a:r>
                  <a:rPr lang="en-US" sz="1000"/>
                  <a:t>Chicago, IL </a:t>
                </a:r>
              </a:p>
              <a:p>
                <a:pPr>
                  <a:lnSpc>
                    <a:spcPct val="110000"/>
                  </a:lnSpc>
                  <a:spcAft>
                    <a:spcPts val="100"/>
                  </a:spcAft>
                  <a:buSzPct val="100000"/>
                </a:pPr>
                <a:r>
                  <a:rPr lang="en-US" sz="1000"/>
                  <a:t>Norfolk, VA</a:t>
                </a:r>
              </a:p>
              <a:p>
                <a:pPr>
                  <a:lnSpc>
                    <a:spcPct val="110000"/>
                  </a:lnSpc>
                  <a:spcAft>
                    <a:spcPts val="100"/>
                  </a:spcAft>
                  <a:buSzPct val="100000"/>
                </a:pPr>
                <a:r>
                  <a:rPr lang="en-US" sz="1000"/>
                  <a:t>Sidney, NE</a:t>
                </a:r>
              </a:p>
              <a:p>
                <a:pPr>
                  <a:lnSpc>
                    <a:spcPct val="110000"/>
                  </a:lnSpc>
                  <a:spcAft>
                    <a:spcPts val="100"/>
                  </a:spcAft>
                  <a:buSzPct val="100000"/>
                </a:pPr>
                <a:r>
                  <a:rPr lang="en-US" sz="1000"/>
                  <a:t>Columbus, OH</a:t>
                </a:r>
              </a:p>
              <a:p>
                <a:pPr>
                  <a:lnSpc>
                    <a:spcPct val="110000"/>
                  </a:lnSpc>
                  <a:spcAft>
                    <a:spcPts val="100"/>
                  </a:spcAft>
                  <a:buSzPct val="100000"/>
                </a:pPr>
                <a:r>
                  <a:rPr lang="en-US" sz="1000"/>
                  <a:t>Atlanta, GA</a:t>
                </a:r>
              </a:p>
              <a:p>
                <a:pPr>
                  <a:lnSpc>
                    <a:spcPct val="110000"/>
                  </a:lnSpc>
                  <a:spcAft>
                    <a:spcPts val="100"/>
                  </a:spcAft>
                  <a:buSzPct val="100000"/>
                </a:pPr>
                <a:r>
                  <a:rPr lang="en-US" sz="1000"/>
                  <a:t>Dallas, TX</a:t>
                </a:r>
              </a:p>
              <a:p>
                <a:pPr>
                  <a:lnSpc>
                    <a:spcPct val="110000"/>
                  </a:lnSpc>
                  <a:spcAft>
                    <a:spcPts val="100"/>
                  </a:spcAft>
                  <a:buSzPct val="100000"/>
                </a:pPr>
                <a:r>
                  <a:rPr lang="en-US" sz="1000"/>
                  <a:t>Ames, US</a:t>
                </a:r>
              </a:p>
              <a:p>
                <a:pPr>
                  <a:lnSpc>
                    <a:spcPct val="110000"/>
                  </a:lnSpc>
                  <a:spcAft>
                    <a:spcPts val="100"/>
                  </a:spcAft>
                  <a:buSzPct val="100000"/>
                </a:pPr>
                <a:r>
                  <a:rPr lang="en-US" sz="1000"/>
                  <a:t>Lincoln, US</a:t>
                </a:r>
              </a:p>
              <a:p>
                <a:pPr>
                  <a:lnSpc>
                    <a:spcPct val="110000"/>
                  </a:lnSpc>
                  <a:spcAft>
                    <a:spcPts val="100"/>
                  </a:spcAft>
                  <a:buSzPct val="100000"/>
                </a:pPr>
                <a:r>
                  <a:rPr lang="en-US" sz="1000"/>
                  <a:t>Vancouver BC, CA</a:t>
                </a:r>
              </a:p>
              <a:p>
                <a:pPr>
                  <a:lnSpc>
                    <a:spcPct val="110000"/>
                  </a:lnSpc>
                  <a:spcAft>
                    <a:spcPts val="100"/>
                  </a:spcAft>
                  <a:buSzPct val="100000"/>
                </a:pPr>
                <a:r>
                  <a:rPr lang="en-US" sz="1000"/>
                  <a:t>Toronto, CA</a:t>
                </a:r>
              </a:p>
              <a:p>
                <a:pPr>
                  <a:lnSpc>
                    <a:spcPct val="110000"/>
                  </a:lnSpc>
                  <a:spcAft>
                    <a:spcPts val="100"/>
                  </a:spcAft>
                  <a:buSzPct val="100000"/>
                </a:pPr>
                <a:r>
                  <a:rPr lang="en-US" sz="1000"/>
                  <a:t>Guadalajara, MX</a:t>
                </a:r>
              </a:p>
              <a:p>
                <a:pPr>
                  <a:lnSpc>
                    <a:spcPct val="110000"/>
                  </a:lnSpc>
                  <a:spcAft>
                    <a:spcPts val="100"/>
                  </a:spcAft>
                  <a:buSzPct val="100000"/>
                </a:pPr>
                <a:r>
                  <a:rPr lang="en-US" sz="1000"/>
                  <a:t>Leon, ES</a:t>
                </a:r>
              </a:p>
              <a:p>
                <a:pPr>
                  <a:lnSpc>
                    <a:spcPct val="110000"/>
                  </a:lnSpc>
                  <a:spcAft>
                    <a:spcPts val="100"/>
                  </a:spcAft>
                  <a:buSzPct val="100000"/>
                </a:pPr>
                <a:r>
                  <a:rPr lang="en-US" sz="1000"/>
                  <a:t>San Jose, CR</a:t>
                </a:r>
              </a:p>
              <a:p>
                <a:pPr>
                  <a:lnSpc>
                    <a:spcPct val="110000"/>
                  </a:lnSpc>
                  <a:spcAft>
                    <a:spcPts val="100"/>
                  </a:spcAft>
                  <a:buSzPct val="100000"/>
                </a:pPr>
                <a:r>
                  <a:rPr lang="en-US" sz="1000"/>
                  <a:t>Bogota, CO</a:t>
                </a:r>
              </a:p>
              <a:p>
                <a:pPr>
                  <a:lnSpc>
                    <a:spcPct val="110000"/>
                  </a:lnSpc>
                  <a:spcAft>
                    <a:spcPts val="100"/>
                  </a:spcAft>
                  <a:buSzPct val="100000"/>
                </a:pPr>
                <a:r>
                  <a:rPr lang="en-US" sz="1000"/>
                  <a:t>Santiago, CL</a:t>
                </a:r>
              </a:p>
              <a:p>
                <a:pPr>
                  <a:lnSpc>
                    <a:spcPct val="110000"/>
                  </a:lnSpc>
                  <a:spcAft>
                    <a:spcPts val="100"/>
                  </a:spcAft>
                  <a:buSzPct val="100000"/>
                </a:pPr>
                <a:r>
                  <a:rPr lang="en-US" sz="1000"/>
                  <a:t>Lima, PE</a:t>
                </a:r>
              </a:p>
              <a:p>
                <a:pPr>
                  <a:lnSpc>
                    <a:spcPct val="110000"/>
                  </a:lnSpc>
                  <a:spcAft>
                    <a:spcPts val="100"/>
                  </a:spcAft>
                  <a:buSzPct val="100000"/>
                </a:pPr>
                <a:r>
                  <a:rPr lang="en-US" sz="1000"/>
                  <a:t>Sao Paulo, BR</a:t>
                </a:r>
              </a:p>
              <a:p>
                <a:pPr>
                  <a:lnSpc>
                    <a:spcPct val="110000"/>
                  </a:lnSpc>
                  <a:spcAft>
                    <a:spcPts val="100"/>
                  </a:spcAft>
                  <a:buSzPct val="100000"/>
                </a:pPr>
                <a:r>
                  <a:rPr lang="en-US" sz="1000"/>
                  <a:t>Buenos Aires, AR</a:t>
                </a:r>
              </a:p>
            </p:txBody>
          </p:sp>
          <p:sp>
            <p:nvSpPr>
              <p:cNvPr id="170" name="TextBox 169">
                <a:extLst>
                  <a:ext uri="{FF2B5EF4-FFF2-40B4-BE49-F238E27FC236}">
                    <a16:creationId xmlns:a16="http://schemas.microsoft.com/office/drawing/2014/main" id="{0E53B817-7FCA-476F-AFD7-92E789C5B979}"/>
                  </a:ext>
                </a:extLst>
              </p:cNvPr>
              <p:cNvSpPr txBox="1"/>
              <p:nvPr/>
            </p:nvSpPr>
            <p:spPr>
              <a:xfrm>
                <a:off x="10943562" y="2668711"/>
                <a:ext cx="966664" cy="1705620"/>
              </a:xfrm>
              <a:prstGeom prst="rect">
                <a:avLst/>
              </a:prstGeom>
              <a:noFill/>
            </p:spPr>
            <p:txBody>
              <a:bodyPr wrap="square" lIns="0" tIns="0" rIns="0" bIns="0" rtlCol="0">
                <a:spAutoFit/>
              </a:bodyPr>
              <a:lstStyle/>
              <a:p>
                <a:pPr>
                  <a:lnSpc>
                    <a:spcPct val="110000"/>
                  </a:lnSpc>
                  <a:buSzPct val="100000"/>
                </a:pPr>
                <a:r>
                  <a:rPr lang="en-US" sz="1000" b="1"/>
                  <a:t>APAC</a:t>
                </a:r>
              </a:p>
              <a:p>
                <a:pPr>
                  <a:lnSpc>
                    <a:spcPct val="110000"/>
                  </a:lnSpc>
                  <a:buSzPct val="100000"/>
                </a:pPr>
                <a:r>
                  <a:rPr lang="en-US" sz="1000">
                    <a:solidFill>
                      <a:schemeClr val="accent3"/>
                    </a:solidFill>
                  </a:rPr>
                  <a:t>Singapore, SG</a:t>
                </a:r>
              </a:p>
              <a:p>
                <a:pPr>
                  <a:lnSpc>
                    <a:spcPct val="110000"/>
                  </a:lnSpc>
                  <a:buSzPct val="100000"/>
                </a:pPr>
                <a:r>
                  <a:rPr lang="en-US" sz="1000"/>
                  <a:t>Manila, PH</a:t>
                </a:r>
              </a:p>
              <a:p>
                <a:pPr>
                  <a:lnSpc>
                    <a:spcPct val="110000"/>
                  </a:lnSpc>
                  <a:buSzPct val="100000"/>
                </a:pPr>
                <a:r>
                  <a:rPr lang="en-US" sz="1000"/>
                  <a:t>Sydney, AU</a:t>
                </a:r>
              </a:p>
              <a:p>
                <a:pPr>
                  <a:lnSpc>
                    <a:spcPct val="110000"/>
                  </a:lnSpc>
                  <a:buSzPct val="100000"/>
                </a:pPr>
                <a:r>
                  <a:rPr lang="en-US" sz="1000"/>
                  <a:t>Melbourne, AU</a:t>
                </a:r>
              </a:p>
              <a:p>
                <a:pPr>
                  <a:lnSpc>
                    <a:spcPct val="110000"/>
                  </a:lnSpc>
                  <a:buSzPct val="100000"/>
                </a:pPr>
                <a:r>
                  <a:rPr lang="en-US" sz="1000"/>
                  <a:t>Penang, MY</a:t>
                </a:r>
              </a:p>
              <a:p>
                <a:pPr>
                  <a:lnSpc>
                    <a:spcPct val="110000"/>
                  </a:lnSpc>
                  <a:buSzPct val="100000"/>
                </a:pPr>
                <a:r>
                  <a:rPr lang="en-US" sz="1000"/>
                  <a:t>Shanghai, CN</a:t>
                </a:r>
              </a:p>
              <a:p>
                <a:pPr>
                  <a:lnSpc>
                    <a:spcPct val="110000"/>
                  </a:lnSpc>
                  <a:buSzPct val="100000"/>
                </a:pPr>
                <a:r>
                  <a:rPr lang="en-US" sz="1000"/>
                  <a:t>Taipei, TW</a:t>
                </a:r>
              </a:p>
              <a:p>
                <a:pPr>
                  <a:lnSpc>
                    <a:spcPct val="110000"/>
                  </a:lnSpc>
                  <a:buSzPct val="100000"/>
                </a:pPr>
                <a:r>
                  <a:rPr lang="en-US" sz="1000"/>
                  <a:t>Cyberjaya, MY</a:t>
                </a:r>
              </a:p>
              <a:p>
                <a:pPr>
                  <a:lnSpc>
                    <a:spcPct val="110000"/>
                  </a:lnSpc>
                  <a:buSzPct val="100000"/>
                </a:pPr>
                <a:r>
                  <a:rPr lang="en-US" sz="1000"/>
                  <a:t>Ho Chin Min, VN</a:t>
                </a:r>
              </a:p>
              <a:p>
                <a:pPr>
                  <a:lnSpc>
                    <a:spcPct val="110000"/>
                  </a:lnSpc>
                  <a:buSzPct val="100000"/>
                </a:pPr>
                <a:r>
                  <a:rPr lang="en-US" sz="1000"/>
                  <a:t>Hong Kong, HK</a:t>
                </a:r>
              </a:p>
            </p:txBody>
          </p:sp>
          <p:sp>
            <p:nvSpPr>
              <p:cNvPr id="171" name="TextBox 170">
                <a:extLst>
                  <a:ext uri="{FF2B5EF4-FFF2-40B4-BE49-F238E27FC236}">
                    <a16:creationId xmlns:a16="http://schemas.microsoft.com/office/drawing/2014/main" id="{7BE1E0E1-439D-4C9F-841C-54A3C48FEAEA}"/>
                  </a:ext>
                </a:extLst>
              </p:cNvPr>
              <p:cNvSpPr txBox="1"/>
              <p:nvPr/>
            </p:nvSpPr>
            <p:spPr>
              <a:xfrm>
                <a:off x="8952453" y="3811182"/>
                <a:ext cx="1014581" cy="1549461"/>
              </a:xfrm>
              <a:prstGeom prst="rect">
                <a:avLst/>
              </a:prstGeom>
              <a:noFill/>
            </p:spPr>
            <p:txBody>
              <a:bodyPr wrap="square" lIns="0" tIns="0" rIns="0" bIns="0" rtlCol="0">
                <a:spAutoFit/>
              </a:bodyPr>
              <a:lstStyle/>
              <a:p>
                <a:pPr>
                  <a:lnSpc>
                    <a:spcPct val="110000"/>
                  </a:lnSpc>
                  <a:buSzPct val="100000"/>
                </a:pPr>
                <a:r>
                  <a:rPr lang="en-US" sz="1000" b="1"/>
                  <a:t>INDIA</a:t>
                </a:r>
              </a:p>
              <a:p>
                <a:pPr>
                  <a:lnSpc>
                    <a:spcPct val="110000"/>
                  </a:lnSpc>
                  <a:buSzPct val="100000"/>
                </a:pPr>
                <a:r>
                  <a:rPr lang="en-US" sz="1000">
                    <a:solidFill>
                      <a:schemeClr val="accent3"/>
                    </a:solidFill>
                  </a:rPr>
                  <a:t>Trivandrum</a:t>
                </a:r>
              </a:p>
              <a:p>
                <a:pPr>
                  <a:lnSpc>
                    <a:spcPct val="110000"/>
                  </a:lnSpc>
                  <a:buSzPct val="100000"/>
                </a:pPr>
                <a:r>
                  <a:rPr lang="en-US" sz="1000"/>
                  <a:t>Bangalore</a:t>
                </a:r>
              </a:p>
              <a:p>
                <a:pPr>
                  <a:lnSpc>
                    <a:spcPct val="110000"/>
                  </a:lnSpc>
                  <a:buSzPct val="100000"/>
                </a:pPr>
                <a:r>
                  <a:rPr lang="en-US" sz="1000"/>
                  <a:t>Chennai</a:t>
                </a:r>
              </a:p>
              <a:p>
                <a:pPr>
                  <a:lnSpc>
                    <a:spcPct val="110000"/>
                  </a:lnSpc>
                  <a:buSzPct val="100000"/>
                </a:pPr>
                <a:r>
                  <a:rPr lang="en-US" sz="1000"/>
                  <a:t>Hyderabad</a:t>
                </a:r>
              </a:p>
              <a:p>
                <a:pPr>
                  <a:lnSpc>
                    <a:spcPct val="110000"/>
                  </a:lnSpc>
                  <a:buSzPct val="100000"/>
                </a:pPr>
                <a:r>
                  <a:rPr lang="en-US" sz="1000"/>
                  <a:t>Kochi</a:t>
                </a:r>
              </a:p>
              <a:p>
                <a:pPr>
                  <a:lnSpc>
                    <a:spcPct val="110000"/>
                  </a:lnSpc>
                  <a:buSzPct val="100000"/>
                </a:pPr>
                <a:r>
                  <a:rPr lang="en-US" sz="1000"/>
                  <a:t>Delhi</a:t>
                </a:r>
              </a:p>
              <a:p>
                <a:pPr>
                  <a:lnSpc>
                    <a:spcPct val="110000"/>
                  </a:lnSpc>
                  <a:buSzPct val="100000"/>
                </a:pPr>
                <a:r>
                  <a:rPr lang="en-US" sz="1000"/>
                  <a:t>Coimbatore </a:t>
                </a:r>
              </a:p>
              <a:p>
                <a:pPr>
                  <a:lnSpc>
                    <a:spcPct val="110000"/>
                  </a:lnSpc>
                  <a:buSzPct val="100000"/>
                </a:pPr>
                <a:r>
                  <a:rPr lang="en-US" sz="1000"/>
                  <a:t>Hosur </a:t>
                </a:r>
              </a:p>
              <a:p>
                <a:pPr>
                  <a:lnSpc>
                    <a:spcPct val="110000"/>
                  </a:lnSpc>
                  <a:buSzPct val="100000"/>
                </a:pPr>
                <a:r>
                  <a:rPr lang="en-US" sz="1000"/>
                  <a:t>Pune</a:t>
                </a:r>
              </a:p>
            </p:txBody>
          </p:sp>
          <p:sp>
            <p:nvSpPr>
              <p:cNvPr id="172" name="TextBox 171">
                <a:extLst>
                  <a:ext uri="{FF2B5EF4-FFF2-40B4-BE49-F238E27FC236}">
                    <a16:creationId xmlns:a16="http://schemas.microsoft.com/office/drawing/2014/main" id="{C5CB6FD3-68B2-42ED-8AD7-D137C857CED7}"/>
                  </a:ext>
                </a:extLst>
              </p:cNvPr>
              <p:cNvSpPr txBox="1"/>
              <p:nvPr/>
            </p:nvSpPr>
            <p:spPr>
              <a:xfrm>
                <a:off x="6380972" y="2592624"/>
                <a:ext cx="619607" cy="1237144"/>
              </a:xfrm>
              <a:prstGeom prst="rect">
                <a:avLst/>
              </a:prstGeom>
              <a:noFill/>
            </p:spPr>
            <p:txBody>
              <a:bodyPr wrap="none" lIns="0" tIns="0" rIns="0" bIns="0" rtlCol="0">
                <a:spAutoFit/>
              </a:bodyPr>
              <a:lstStyle/>
              <a:p>
                <a:pPr>
                  <a:lnSpc>
                    <a:spcPct val="110000"/>
                  </a:lnSpc>
                  <a:buSzPct val="100000"/>
                </a:pPr>
                <a:r>
                  <a:rPr lang="en-US" sz="1000" b="1"/>
                  <a:t>EMEA</a:t>
                </a:r>
              </a:p>
              <a:p>
                <a:pPr>
                  <a:lnSpc>
                    <a:spcPct val="110000"/>
                  </a:lnSpc>
                  <a:buSzPct val="100000"/>
                </a:pPr>
                <a:r>
                  <a:rPr lang="en-US" sz="1000">
                    <a:solidFill>
                      <a:schemeClr val="accent3"/>
                    </a:solidFill>
                  </a:rPr>
                  <a:t>London, UK</a:t>
                </a:r>
              </a:p>
              <a:p>
                <a:pPr>
                  <a:lnSpc>
                    <a:spcPct val="110000"/>
                  </a:lnSpc>
                  <a:buSzPct val="100000"/>
                </a:pPr>
                <a:r>
                  <a:rPr lang="en-US" sz="1000"/>
                  <a:t>Leeds, UK</a:t>
                </a:r>
              </a:p>
              <a:p>
                <a:pPr>
                  <a:lnSpc>
                    <a:spcPct val="110000"/>
                  </a:lnSpc>
                  <a:buSzPct val="100000"/>
                </a:pPr>
                <a:r>
                  <a:rPr lang="en-US" sz="1000"/>
                  <a:t>Dublin, UK</a:t>
                </a:r>
              </a:p>
              <a:p>
                <a:pPr>
                  <a:lnSpc>
                    <a:spcPct val="110000"/>
                  </a:lnSpc>
                  <a:buSzPct val="100000"/>
                </a:pPr>
                <a:r>
                  <a:rPr lang="en-US" sz="1000"/>
                  <a:t>Madrid, ES</a:t>
                </a:r>
              </a:p>
              <a:p>
                <a:pPr>
                  <a:lnSpc>
                    <a:spcPct val="110000"/>
                  </a:lnSpc>
                  <a:buSzPct val="100000"/>
                </a:pPr>
                <a:r>
                  <a:rPr lang="en-US" sz="1000"/>
                  <a:t>Tel Aviv, IS</a:t>
                </a:r>
              </a:p>
              <a:p>
                <a:pPr>
                  <a:lnSpc>
                    <a:spcPct val="110000"/>
                  </a:lnSpc>
                  <a:buSzPct val="100000"/>
                </a:pPr>
                <a:r>
                  <a:rPr lang="en-US" sz="1000"/>
                  <a:t>Berlin, DE</a:t>
                </a:r>
              </a:p>
              <a:p>
                <a:pPr>
                  <a:lnSpc>
                    <a:spcPct val="110000"/>
                  </a:lnSpc>
                  <a:buSzPct val="100000"/>
                </a:pPr>
                <a:r>
                  <a:rPr lang="en-US" sz="1000"/>
                  <a:t>Lisbon, PT</a:t>
                </a:r>
              </a:p>
            </p:txBody>
          </p:sp>
          <p:sp>
            <p:nvSpPr>
              <p:cNvPr id="173" name="TextBox 172">
                <a:extLst>
                  <a:ext uri="{FF2B5EF4-FFF2-40B4-BE49-F238E27FC236}">
                    <a16:creationId xmlns:a16="http://schemas.microsoft.com/office/drawing/2014/main" id="{050E96F4-52EB-4185-9B18-D1FBF24EB82B}"/>
                  </a:ext>
                </a:extLst>
              </p:cNvPr>
              <p:cNvSpPr txBox="1"/>
              <p:nvPr/>
            </p:nvSpPr>
            <p:spPr>
              <a:xfrm>
                <a:off x="6730302" y="3867052"/>
                <a:ext cx="900574" cy="2330255"/>
              </a:xfrm>
              <a:prstGeom prst="rect">
                <a:avLst/>
              </a:prstGeom>
              <a:noFill/>
            </p:spPr>
            <p:txBody>
              <a:bodyPr wrap="none" lIns="0" tIns="0" rIns="0" bIns="0" rtlCol="0">
                <a:spAutoFit/>
              </a:bodyPr>
              <a:lstStyle/>
              <a:p>
                <a:pPr>
                  <a:lnSpc>
                    <a:spcPct val="110000"/>
                  </a:lnSpc>
                  <a:buSzPct val="100000"/>
                </a:pPr>
                <a:r>
                  <a:rPr lang="en-US" sz="1000"/>
                  <a:t>Paris, FR</a:t>
                </a:r>
              </a:p>
              <a:p>
                <a:pPr>
                  <a:lnSpc>
                    <a:spcPct val="110000"/>
                  </a:lnSpc>
                  <a:buSzPct val="100000"/>
                </a:pPr>
                <a:r>
                  <a:rPr lang="en-US" sz="1000"/>
                  <a:t>Gdansk, PL</a:t>
                </a:r>
              </a:p>
              <a:p>
                <a:pPr>
                  <a:lnSpc>
                    <a:spcPct val="110000"/>
                  </a:lnSpc>
                  <a:buSzPct val="100000"/>
                </a:pPr>
                <a:r>
                  <a:rPr lang="en-US" sz="1000"/>
                  <a:t>Bucharest, RO</a:t>
                </a:r>
              </a:p>
              <a:p>
                <a:pPr>
                  <a:lnSpc>
                    <a:spcPct val="110000"/>
                  </a:lnSpc>
                  <a:buSzPct val="100000"/>
                </a:pPr>
                <a:r>
                  <a:rPr lang="en-US" sz="1000"/>
                  <a:t>Sofia, BG</a:t>
                </a:r>
              </a:p>
              <a:p>
                <a:pPr>
                  <a:lnSpc>
                    <a:spcPct val="110000"/>
                  </a:lnSpc>
                  <a:buSzPct val="100000"/>
                </a:pPr>
                <a:r>
                  <a:rPr lang="en-US" sz="1000"/>
                  <a:t>Helmond, NL</a:t>
                </a:r>
              </a:p>
              <a:p>
                <a:pPr>
                  <a:lnSpc>
                    <a:spcPct val="110000"/>
                  </a:lnSpc>
                  <a:buSzPct val="100000"/>
                </a:pPr>
                <a:r>
                  <a:rPr lang="en-US" sz="1000"/>
                  <a:t>Barcelona, ES</a:t>
                </a:r>
              </a:p>
              <a:p>
                <a:pPr>
                  <a:lnSpc>
                    <a:spcPct val="110000"/>
                  </a:lnSpc>
                  <a:buSzPct val="100000"/>
                </a:pPr>
                <a:r>
                  <a:rPr lang="en-US" sz="1000" b="0"/>
                  <a:t>Bilbao, ES</a:t>
                </a:r>
              </a:p>
              <a:p>
                <a:pPr>
                  <a:lnSpc>
                    <a:spcPct val="110000"/>
                  </a:lnSpc>
                  <a:buSzPct val="100000"/>
                </a:pPr>
                <a:r>
                  <a:rPr lang="en-US" sz="1000"/>
                  <a:t>Salamanca, ES</a:t>
                </a:r>
              </a:p>
              <a:p>
                <a:pPr>
                  <a:lnSpc>
                    <a:spcPct val="110000"/>
                  </a:lnSpc>
                  <a:buSzPct val="100000"/>
                </a:pPr>
                <a:r>
                  <a:rPr lang="en-US" sz="1000"/>
                  <a:t>Valencia, ES</a:t>
                </a:r>
              </a:p>
              <a:p>
                <a:pPr>
                  <a:lnSpc>
                    <a:spcPct val="110000"/>
                  </a:lnSpc>
                  <a:buSzPct val="100000"/>
                </a:pPr>
                <a:r>
                  <a:rPr lang="en-US" sz="1000"/>
                  <a:t>Zaragoza, ES</a:t>
                </a:r>
              </a:p>
              <a:p>
                <a:pPr>
                  <a:lnSpc>
                    <a:spcPct val="110000"/>
                  </a:lnSpc>
                  <a:buSzPct val="100000"/>
                </a:pPr>
                <a:r>
                  <a:rPr lang="en-US" sz="1000"/>
                  <a:t>Copenhagen, DK</a:t>
                </a:r>
              </a:p>
              <a:p>
                <a:pPr>
                  <a:lnSpc>
                    <a:spcPct val="110000"/>
                  </a:lnSpc>
                  <a:buSzPct val="100000"/>
                </a:pPr>
                <a:r>
                  <a:rPr lang="en-US" sz="1000"/>
                  <a:t>Zurich, CH</a:t>
                </a:r>
              </a:p>
              <a:p>
                <a:pPr>
                  <a:lnSpc>
                    <a:spcPct val="110000"/>
                  </a:lnSpc>
                  <a:buSzPct val="100000"/>
                </a:pPr>
                <a:r>
                  <a:rPr lang="en-US" sz="1000"/>
                  <a:t>Kyiv, UA</a:t>
                </a:r>
              </a:p>
              <a:p>
                <a:pPr>
                  <a:lnSpc>
                    <a:spcPct val="110000"/>
                  </a:lnSpc>
                  <a:buSzPct val="100000"/>
                </a:pPr>
                <a:r>
                  <a:rPr lang="en-US" sz="1000"/>
                  <a:t>Dubai, AE</a:t>
                </a:r>
              </a:p>
              <a:p>
                <a:pPr>
                  <a:lnSpc>
                    <a:spcPct val="110000"/>
                  </a:lnSpc>
                  <a:buSzPct val="100000"/>
                </a:pPr>
                <a:r>
                  <a:rPr lang="en-US" sz="1000"/>
                  <a:t>Cape Town, ZA</a:t>
                </a:r>
              </a:p>
            </p:txBody>
          </p:sp>
        </p:grpSp>
        <p:grpSp>
          <p:nvGrpSpPr>
            <p:cNvPr id="114" name="Group 113">
              <a:extLst>
                <a:ext uri="{FF2B5EF4-FFF2-40B4-BE49-F238E27FC236}">
                  <a16:creationId xmlns:a16="http://schemas.microsoft.com/office/drawing/2014/main" id="{CF058085-3BD2-4BCC-9133-9A9F2B33943D}"/>
                </a:ext>
              </a:extLst>
            </p:cNvPr>
            <p:cNvGrpSpPr/>
            <p:nvPr/>
          </p:nvGrpSpPr>
          <p:grpSpPr>
            <a:xfrm>
              <a:off x="3644714" y="1191787"/>
              <a:ext cx="8171730" cy="4236181"/>
              <a:chOff x="3644714" y="1191787"/>
              <a:chExt cx="8171730" cy="4236181"/>
            </a:xfrm>
          </p:grpSpPr>
          <p:sp>
            <p:nvSpPr>
              <p:cNvPr id="115" name="World">
                <a:extLst>
                  <a:ext uri="{FF2B5EF4-FFF2-40B4-BE49-F238E27FC236}">
                    <a16:creationId xmlns:a16="http://schemas.microsoft.com/office/drawing/2014/main" id="{568CB211-13BD-4877-92F8-A0D78491D849}"/>
                  </a:ext>
                </a:extLst>
              </p:cNvPr>
              <p:cNvSpPr>
                <a:spLocks noChangeAspect="1" noEditPoints="1"/>
              </p:cNvSpPr>
              <p:nvPr/>
            </p:nvSpPr>
            <p:spPr bwMode="auto">
              <a:xfrm>
                <a:off x="3644714" y="1191787"/>
                <a:ext cx="8171730" cy="423618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grpSp>
            <p:nvGrpSpPr>
              <p:cNvPr id="116" name="Group 115">
                <a:extLst>
                  <a:ext uri="{FF2B5EF4-FFF2-40B4-BE49-F238E27FC236}">
                    <a16:creationId xmlns:a16="http://schemas.microsoft.com/office/drawing/2014/main" id="{C80F5D0E-EE89-46B4-A13A-5E227662A718}"/>
                  </a:ext>
                </a:extLst>
              </p:cNvPr>
              <p:cNvGrpSpPr/>
              <p:nvPr/>
            </p:nvGrpSpPr>
            <p:grpSpPr>
              <a:xfrm>
                <a:off x="4576069" y="1988983"/>
                <a:ext cx="6421010" cy="2924474"/>
                <a:chOff x="4576069" y="1988983"/>
                <a:chExt cx="6421010" cy="2924474"/>
              </a:xfrm>
            </p:grpSpPr>
            <p:sp>
              <p:nvSpPr>
                <p:cNvPr id="117" name="Square">
                  <a:extLst>
                    <a:ext uri="{FF2B5EF4-FFF2-40B4-BE49-F238E27FC236}">
                      <a16:creationId xmlns:a16="http://schemas.microsoft.com/office/drawing/2014/main" id="{028462ED-C23E-46D7-A0C3-7B85F25BBA78}"/>
                    </a:ext>
                  </a:extLst>
                </p:cNvPr>
                <p:cNvSpPr>
                  <a:spLocks noChangeAspect="1"/>
                </p:cNvSpPr>
                <p:nvPr/>
              </p:nvSpPr>
              <p:spPr bwMode="auto">
                <a:xfrm>
                  <a:off x="4576069" y="2897540"/>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18" name="Square">
                  <a:extLst>
                    <a:ext uri="{FF2B5EF4-FFF2-40B4-BE49-F238E27FC236}">
                      <a16:creationId xmlns:a16="http://schemas.microsoft.com/office/drawing/2014/main" id="{ED2FFBCD-351D-4E4F-85B7-22678B6F7943}"/>
                    </a:ext>
                  </a:extLst>
                </p:cNvPr>
                <p:cNvSpPr>
                  <a:spLocks noChangeAspect="1"/>
                </p:cNvSpPr>
                <p:nvPr/>
              </p:nvSpPr>
              <p:spPr bwMode="auto">
                <a:xfrm>
                  <a:off x="7157311" y="2298546"/>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19" name="Square">
                  <a:extLst>
                    <a:ext uri="{FF2B5EF4-FFF2-40B4-BE49-F238E27FC236}">
                      <a16:creationId xmlns:a16="http://schemas.microsoft.com/office/drawing/2014/main" id="{3C565908-5A12-4E2D-BE63-4692EBFE19CF}"/>
                    </a:ext>
                  </a:extLst>
                </p:cNvPr>
                <p:cNvSpPr>
                  <a:spLocks noChangeAspect="1"/>
                </p:cNvSpPr>
                <p:nvPr/>
              </p:nvSpPr>
              <p:spPr bwMode="auto">
                <a:xfrm>
                  <a:off x="5403050" y="259915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0" name="Square">
                  <a:extLst>
                    <a:ext uri="{FF2B5EF4-FFF2-40B4-BE49-F238E27FC236}">
                      <a16:creationId xmlns:a16="http://schemas.microsoft.com/office/drawing/2014/main" id="{391541E5-56A6-432C-9E78-33A993985037}"/>
                    </a:ext>
                  </a:extLst>
                </p:cNvPr>
                <p:cNvSpPr>
                  <a:spLocks noChangeAspect="1"/>
                </p:cNvSpPr>
                <p:nvPr/>
              </p:nvSpPr>
              <p:spPr bwMode="auto">
                <a:xfrm>
                  <a:off x="9137346" y="361218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1" name="Square">
                  <a:extLst>
                    <a:ext uri="{FF2B5EF4-FFF2-40B4-BE49-F238E27FC236}">
                      <a16:creationId xmlns:a16="http://schemas.microsoft.com/office/drawing/2014/main" id="{438F91CF-7A3F-4CA2-A543-15193573207B}"/>
                    </a:ext>
                  </a:extLst>
                </p:cNvPr>
                <p:cNvSpPr>
                  <a:spLocks noChangeAspect="1"/>
                </p:cNvSpPr>
                <p:nvPr/>
              </p:nvSpPr>
              <p:spPr bwMode="auto">
                <a:xfrm>
                  <a:off x="8137448" y="2942883"/>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2" name="Square">
                  <a:extLst>
                    <a:ext uri="{FF2B5EF4-FFF2-40B4-BE49-F238E27FC236}">
                      <a16:creationId xmlns:a16="http://schemas.microsoft.com/office/drawing/2014/main" id="{ADC5708C-1B2D-4C8A-91D2-424EF3F205B4}"/>
                    </a:ext>
                  </a:extLst>
                </p:cNvPr>
                <p:cNvSpPr>
                  <a:spLocks noChangeAspect="1"/>
                </p:cNvSpPr>
                <p:nvPr/>
              </p:nvSpPr>
              <p:spPr bwMode="auto">
                <a:xfrm>
                  <a:off x="9834117" y="373935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3" name="Square">
                  <a:extLst>
                    <a:ext uri="{FF2B5EF4-FFF2-40B4-BE49-F238E27FC236}">
                      <a16:creationId xmlns:a16="http://schemas.microsoft.com/office/drawing/2014/main" id="{3BC6C2F0-4D29-48BD-948E-06FDFDFF37A0}"/>
                    </a:ext>
                  </a:extLst>
                </p:cNvPr>
                <p:cNvSpPr>
                  <a:spLocks noChangeAspect="1"/>
                </p:cNvSpPr>
                <p:nvPr/>
              </p:nvSpPr>
              <p:spPr bwMode="auto">
                <a:xfrm>
                  <a:off x="7284354" y="271942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4" name="Square">
                  <a:extLst>
                    <a:ext uri="{FF2B5EF4-FFF2-40B4-BE49-F238E27FC236}">
                      <a16:creationId xmlns:a16="http://schemas.microsoft.com/office/drawing/2014/main" id="{4BC2BB34-4273-48EF-9981-D46334509D4C}"/>
                    </a:ext>
                  </a:extLst>
                </p:cNvPr>
                <p:cNvSpPr>
                  <a:spLocks noChangeAspect="1"/>
                </p:cNvSpPr>
                <p:nvPr/>
              </p:nvSpPr>
              <p:spPr bwMode="auto">
                <a:xfrm>
                  <a:off x="10758344" y="474110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5" name="Square">
                  <a:extLst>
                    <a:ext uri="{FF2B5EF4-FFF2-40B4-BE49-F238E27FC236}">
                      <a16:creationId xmlns:a16="http://schemas.microsoft.com/office/drawing/2014/main" id="{975BC770-1A48-43F9-9B66-9EF788BB9AEA}"/>
                    </a:ext>
                  </a:extLst>
                </p:cNvPr>
                <p:cNvSpPr>
                  <a:spLocks noChangeAspect="1"/>
                </p:cNvSpPr>
                <p:nvPr/>
              </p:nvSpPr>
              <p:spPr bwMode="auto">
                <a:xfrm>
                  <a:off x="5242221" y="268320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6" name="Square">
                  <a:extLst>
                    <a:ext uri="{FF2B5EF4-FFF2-40B4-BE49-F238E27FC236}">
                      <a16:creationId xmlns:a16="http://schemas.microsoft.com/office/drawing/2014/main" id="{67053AC2-D8F4-45B2-AECF-549A04C65CC9}"/>
                    </a:ext>
                  </a:extLst>
                </p:cNvPr>
                <p:cNvSpPr>
                  <a:spLocks noChangeAspect="1"/>
                </p:cNvSpPr>
                <p:nvPr/>
              </p:nvSpPr>
              <p:spPr bwMode="auto">
                <a:xfrm>
                  <a:off x="5085950" y="334652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7" name="Square">
                  <a:extLst>
                    <a:ext uri="{FF2B5EF4-FFF2-40B4-BE49-F238E27FC236}">
                      <a16:creationId xmlns:a16="http://schemas.microsoft.com/office/drawing/2014/main" id="{A422CE0F-5506-4A29-92E0-4DBC7A8DD085}"/>
                    </a:ext>
                  </a:extLst>
                </p:cNvPr>
                <p:cNvSpPr>
                  <a:spLocks noChangeAspect="1"/>
                </p:cNvSpPr>
                <p:nvPr/>
              </p:nvSpPr>
              <p:spPr bwMode="auto">
                <a:xfrm>
                  <a:off x="5839392" y="250988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8" name="Square">
                  <a:extLst>
                    <a:ext uri="{FF2B5EF4-FFF2-40B4-BE49-F238E27FC236}">
                      <a16:creationId xmlns:a16="http://schemas.microsoft.com/office/drawing/2014/main" id="{D447BF08-AAEF-4C18-97E1-2074315E3E00}"/>
                    </a:ext>
                  </a:extLst>
                </p:cNvPr>
                <p:cNvSpPr>
                  <a:spLocks noChangeAspect="1"/>
                </p:cNvSpPr>
                <p:nvPr/>
              </p:nvSpPr>
              <p:spPr bwMode="auto">
                <a:xfrm>
                  <a:off x="7222158" y="285290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9" name="Square">
                  <a:extLst>
                    <a:ext uri="{FF2B5EF4-FFF2-40B4-BE49-F238E27FC236}">
                      <a16:creationId xmlns:a16="http://schemas.microsoft.com/office/drawing/2014/main" id="{8EB4F771-4777-4BA3-ADDF-9029C73AF2E4}"/>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0" name="Square">
                  <a:extLst>
                    <a:ext uri="{FF2B5EF4-FFF2-40B4-BE49-F238E27FC236}">
                      <a16:creationId xmlns:a16="http://schemas.microsoft.com/office/drawing/2014/main" id="{ADEA90A4-E04D-4566-970A-46C517E301AB}"/>
                    </a:ext>
                  </a:extLst>
                </p:cNvPr>
                <p:cNvSpPr>
                  <a:spLocks noChangeAspect="1"/>
                </p:cNvSpPr>
                <p:nvPr/>
              </p:nvSpPr>
              <p:spPr bwMode="auto">
                <a:xfrm>
                  <a:off x="5635164" y="2344149"/>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1" name="Square">
                  <a:extLst>
                    <a:ext uri="{FF2B5EF4-FFF2-40B4-BE49-F238E27FC236}">
                      <a16:creationId xmlns:a16="http://schemas.microsoft.com/office/drawing/2014/main" id="{F6EC4EEC-148F-4785-B49E-ECE76156E1BB}"/>
                    </a:ext>
                  </a:extLst>
                </p:cNvPr>
                <p:cNvSpPr>
                  <a:spLocks noChangeAspect="1"/>
                </p:cNvSpPr>
                <p:nvPr/>
              </p:nvSpPr>
              <p:spPr bwMode="auto">
                <a:xfrm>
                  <a:off x="5228172" y="329404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2" name="Square">
                  <a:extLst>
                    <a:ext uri="{FF2B5EF4-FFF2-40B4-BE49-F238E27FC236}">
                      <a16:creationId xmlns:a16="http://schemas.microsoft.com/office/drawing/2014/main" id="{52327558-F7EB-4D02-9AEA-97BE4964F6C0}"/>
                    </a:ext>
                  </a:extLst>
                </p:cNvPr>
                <p:cNvSpPr>
                  <a:spLocks noChangeAspect="1"/>
                </p:cNvSpPr>
                <p:nvPr/>
              </p:nvSpPr>
              <p:spPr bwMode="auto">
                <a:xfrm>
                  <a:off x="10228133" y="347869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3" name="TextBox 132">
                  <a:extLst>
                    <a:ext uri="{FF2B5EF4-FFF2-40B4-BE49-F238E27FC236}">
                      <a16:creationId xmlns:a16="http://schemas.microsoft.com/office/drawing/2014/main" id="{B718A8F8-57CA-4832-A4C2-2A35BAFDFD30}"/>
                    </a:ext>
                  </a:extLst>
                </p:cNvPr>
                <p:cNvSpPr txBox="1"/>
                <p:nvPr/>
              </p:nvSpPr>
              <p:spPr>
                <a:xfrm>
                  <a:off x="7887099" y="1988983"/>
                  <a:ext cx="360000" cy="7200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000"/>
                </a:p>
              </p:txBody>
            </p:sp>
            <p:sp>
              <p:nvSpPr>
                <p:cNvPr id="134" name="Square">
                  <a:extLst>
                    <a:ext uri="{FF2B5EF4-FFF2-40B4-BE49-F238E27FC236}">
                      <a16:creationId xmlns:a16="http://schemas.microsoft.com/office/drawing/2014/main" id="{6411A72A-B595-4D08-8993-17D2454962BD}"/>
                    </a:ext>
                  </a:extLst>
                </p:cNvPr>
                <p:cNvSpPr>
                  <a:spLocks noChangeAspect="1"/>
                </p:cNvSpPr>
                <p:nvPr/>
              </p:nvSpPr>
              <p:spPr bwMode="auto">
                <a:xfrm>
                  <a:off x="7437829" y="255704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5" name="Square">
                  <a:extLst>
                    <a:ext uri="{FF2B5EF4-FFF2-40B4-BE49-F238E27FC236}">
                      <a16:creationId xmlns:a16="http://schemas.microsoft.com/office/drawing/2014/main" id="{79AA5D2D-3CAD-4629-B488-B853A67A7310}"/>
                    </a:ext>
                  </a:extLst>
                </p:cNvPr>
                <p:cNvSpPr>
                  <a:spLocks noChangeAspect="1"/>
                </p:cNvSpPr>
                <p:nvPr/>
              </p:nvSpPr>
              <p:spPr bwMode="auto">
                <a:xfrm>
                  <a:off x="10195309" y="3134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6" name="Square">
                  <a:extLst>
                    <a:ext uri="{FF2B5EF4-FFF2-40B4-BE49-F238E27FC236}">
                      <a16:creationId xmlns:a16="http://schemas.microsoft.com/office/drawing/2014/main" id="{AFB74C56-4AC2-4A6A-8D4F-17985BC148B3}"/>
                    </a:ext>
                  </a:extLst>
                </p:cNvPr>
                <p:cNvSpPr>
                  <a:spLocks noChangeAspect="1"/>
                </p:cNvSpPr>
                <p:nvPr/>
              </p:nvSpPr>
              <p:spPr bwMode="auto">
                <a:xfrm>
                  <a:off x="4662732" y="241098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7" name="Square">
                  <a:extLst>
                    <a:ext uri="{FF2B5EF4-FFF2-40B4-BE49-F238E27FC236}">
                      <a16:creationId xmlns:a16="http://schemas.microsoft.com/office/drawing/2014/main" id="{C1B2104A-5260-47F8-9ACE-54DE53038FBE}"/>
                    </a:ext>
                  </a:extLst>
                </p:cNvPr>
                <p:cNvSpPr>
                  <a:spLocks noChangeAspect="1"/>
                </p:cNvSpPr>
                <p:nvPr/>
              </p:nvSpPr>
              <p:spPr bwMode="auto">
                <a:xfrm>
                  <a:off x="5148493" y="25695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8" name="Square">
                  <a:extLst>
                    <a:ext uri="{FF2B5EF4-FFF2-40B4-BE49-F238E27FC236}">
                      <a16:creationId xmlns:a16="http://schemas.microsoft.com/office/drawing/2014/main" id="{F0561003-D0CC-4F3E-A34B-39CDAA4B457C}"/>
                    </a:ext>
                  </a:extLst>
                </p:cNvPr>
                <p:cNvSpPr>
                  <a:spLocks noChangeAspect="1"/>
                </p:cNvSpPr>
                <p:nvPr/>
              </p:nvSpPr>
              <p:spPr bwMode="auto">
                <a:xfrm>
                  <a:off x="5572096" y="284400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9" name="Square">
                  <a:extLst>
                    <a:ext uri="{FF2B5EF4-FFF2-40B4-BE49-F238E27FC236}">
                      <a16:creationId xmlns:a16="http://schemas.microsoft.com/office/drawing/2014/main" id="{5F695E4B-98F2-40DC-BEA4-E013B460A149}"/>
                    </a:ext>
                  </a:extLst>
                </p:cNvPr>
                <p:cNvSpPr>
                  <a:spLocks noChangeAspect="1"/>
                </p:cNvSpPr>
                <p:nvPr/>
              </p:nvSpPr>
              <p:spPr bwMode="auto">
                <a:xfrm>
                  <a:off x="4732524" y="25808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0" name="Square">
                  <a:extLst>
                    <a:ext uri="{FF2B5EF4-FFF2-40B4-BE49-F238E27FC236}">
                      <a16:creationId xmlns:a16="http://schemas.microsoft.com/office/drawing/2014/main" id="{D9207488-E9ED-4D28-809F-943BB611399F}"/>
                    </a:ext>
                  </a:extLst>
                </p:cNvPr>
                <p:cNvSpPr>
                  <a:spLocks noChangeAspect="1"/>
                </p:cNvSpPr>
                <p:nvPr/>
              </p:nvSpPr>
              <p:spPr bwMode="auto">
                <a:xfrm>
                  <a:off x="5477505" y="3496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1" name="Square">
                  <a:extLst>
                    <a:ext uri="{FF2B5EF4-FFF2-40B4-BE49-F238E27FC236}">
                      <a16:creationId xmlns:a16="http://schemas.microsoft.com/office/drawing/2014/main" id="{F0176F23-E953-4C59-ADDD-D5E2668A3C95}"/>
                    </a:ext>
                  </a:extLst>
                </p:cNvPr>
                <p:cNvSpPr>
                  <a:spLocks noChangeAspect="1"/>
                </p:cNvSpPr>
                <p:nvPr/>
              </p:nvSpPr>
              <p:spPr bwMode="auto">
                <a:xfrm>
                  <a:off x="5755254" y="3653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2" name="Square">
                  <a:extLst>
                    <a:ext uri="{FF2B5EF4-FFF2-40B4-BE49-F238E27FC236}">
                      <a16:creationId xmlns:a16="http://schemas.microsoft.com/office/drawing/2014/main" id="{E7B070FF-9D87-4BAE-BB72-517C4430ECBF}"/>
                    </a:ext>
                  </a:extLst>
                </p:cNvPr>
                <p:cNvSpPr>
                  <a:spLocks noChangeAspect="1"/>
                </p:cNvSpPr>
                <p:nvPr/>
              </p:nvSpPr>
              <p:spPr bwMode="auto">
                <a:xfrm>
                  <a:off x="5640253" y="389545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3" name="Square">
                  <a:extLst>
                    <a:ext uri="{FF2B5EF4-FFF2-40B4-BE49-F238E27FC236}">
                      <a16:creationId xmlns:a16="http://schemas.microsoft.com/office/drawing/2014/main" id="{7B973539-FB35-409E-A2B3-86C8FDD407CC}"/>
                    </a:ext>
                  </a:extLst>
                </p:cNvPr>
                <p:cNvSpPr>
                  <a:spLocks noChangeAspect="1"/>
                </p:cNvSpPr>
                <p:nvPr/>
              </p:nvSpPr>
              <p:spPr bwMode="auto">
                <a:xfrm>
                  <a:off x="7326843" y="223308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4" name="Square">
                  <a:extLst>
                    <a:ext uri="{FF2B5EF4-FFF2-40B4-BE49-F238E27FC236}">
                      <a16:creationId xmlns:a16="http://schemas.microsoft.com/office/drawing/2014/main" id="{0A01C361-080F-4064-AD90-E7E4BBFF7139}"/>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5" name="Square">
                  <a:extLst>
                    <a:ext uri="{FF2B5EF4-FFF2-40B4-BE49-F238E27FC236}">
                      <a16:creationId xmlns:a16="http://schemas.microsoft.com/office/drawing/2014/main" id="{2EC6902C-8473-4266-BB7C-8FEAB2F25F64}"/>
                    </a:ext>
                  </a:extLst>
                </p:cNvPr>
                <p:cNvSpPr>
                  <a:spLocks noChangeAspect="1"/>
                </p:cNvSpPr>
                <p:nvPr/>
              </p:nvSpPr>
              <p:spPr bwMode="auto">
                <a:xfrm>
                  <a:off x="8016622" y="220210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6" name="Square">
                  <a:extLst>
                    <a:ext uri="{FF2B5EF4-FFF2-40B4-BE49-F238E27FC236}">
                      <a16:creationId xmlns:a16="http://schemas.microsoft.com/office/drawing/2014/main" id="{5DC14061-C7F4-45A4-9F8E-9FE5D3745F58}"/>
                    </a:ext>
                  </a:extLst>
                </p:cNvPr>
                <p:cNvSpPr>
                  <a:spLocks noChangeAspect="1"/>
                </p:cNvSpPr>
                <p:nvPr/>
              </p:nvSpPr>
              <p:spPr bwMode="auto">
                <a:xfrm>
                  <a:off x="8157918" y="264160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7" name="Square">
                  <a:extLst>
                    <a:ext uri="{FF2B5EF4-FFF2-40B4-BE49-F238E27FC236}">
                      <a16:creationId xmlns:a16="http://schemas.microsoft.com/office/drawing/2014/main" id="{7CFBA5AE-58AC-495D-8EA5-1720E2FF322A}"/>
                    </a:ext>
                  </a:extLst>
                </p:cNvPr>
                <p:cNvSpPr>
                  <a:spLocks noChangeAspect="1"/>
                </p:cNvSpPr>
                <p:nvPr/>
              </p:nvSpPr>
              <p:spPr bwMode="auto">
                <a:xfrm>
                  <a:off x="8013133" y="27641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8" name="Square">
                  <a:extLst>
                    <a:ext uri="{FF2B5EF4-FFF2-40B4-BE49-F238E27FC236}">
                      <a16:creationId xmlns:a16="http://schemas.microsoft.com/office/drawing/2014/main" id="{8A1E25FE-FED1-49C7-AB20-F60542D3B439}"/>
                    </a:ext>
                  </a:extLst>
                </p:cNvPr>
                <p:cNvSpPr>
                  <a:spLocks noChangeAspect="1"/>
                </p:cNvSpPr>
                <p:nvPr/>
              </p:nvSpPr>
              <p:spPr bwMode="auto">
                <a:xfrm>
                  <a:off x="9177866" y="34768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9" name="Square">
                  <a:extLst>
                    <a:ext uri="{FF2B5EF4-FFF2-40B4-BE49-F238E27FC236}">
                      <a16:creationId xmlns:a16="http://schemas.microsoft.com/office/drawing/2014/main" id="{221284D0-4A87-44A7-8EC7-DB4BC50B778F}"/>
                    </a:ext>
                  </a:extLst>
                </p:cNvPr>
                <p:cNvSpPr>
                  <a:spLocks noChangeAspect="1"/>
                </p:cNvSpPr>
                <p:nvPr/>
              </p:nvSpPr>
              <p:spPr bwMode="auto">
                <a:xfrm>
                  <a:off x="9127066" y="3359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0" name="Square">
                  <a:extLst>
                    <a:ext uri="{FF2B5EF4-FFF2-40B4-BE49-F238E27FC236}">
                      <a16:creationId xmlns:a16="http://schemas.microsoft.com/office/drawing/2014/main" id="{BA5FBA7B-9B41-4894-93D5-8CCE1CE231B1}"/>
                    </a:ext>
                  </a:extLst>
                </p:cNvPr>
                <p:cNvSpPr>
                  <a:spLocks noChangeAspect="1"/>
                </p:cNvSpPr>
                <p:nvPr/>
              </p:nvSpPr>
              <p:spPr bwMode="auto">
                <a:xfrm>
                  <a:off x="7554453" y="259539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1" name="Square">
                  <a:extLst>
                    <a:ext uri="{FF2B5EF4-FFF2-40B4-BE49-F238E27FC236}">
                      <a16:creationId xmlns:a16="http://schemas.microsoft.com/office/drawing/2014/main" id="{4509668D-9EC1-49F3-94C9-09C59C72BEE9}"/>
                    </a:ext>
                  </a:extLst>
                </p:cNvPr>
                <p:cNvSpPr>
                  <a:spLocks noChangeAspect="1"/>
                </p:cNvSpPr>
                <p:nvPr/>
              </p:nvSpPr>
              <p:spPr bwMode="auto">
                <a:xfrm>
                  <a:off x="7336163" y="235447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2" name="Square">
                  <a:extLst>
                    <a:ext uri="{FF2B5EF4-FFF2-40B4-BE49-F238E27FC236}">
                      <a16:creationId xmlns:a16="http://schemas.microsoft.com/office/drawing/2014/main" id="{4C86B7E1-4131-47F8-8B02-AA51BD743F90}"/>
                    </a:ext>
                  </a:extLst>
                </p:cNvPr>
                <p:cNvSpPr>
                  <a:spLocks noChangeAspect="1"/>
                </p:cNvSpPr>
                <p:nvPr/>
              </p:nvSpPr>
              <p:spPr bwMode="auto">
                <a:xfrm>
                  <a:off x="7860650" y="4655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3" name="Square">
                  <a:extLst>
                    <a:ext uri="{FF2B5EF4-FFF2-40B4-BE49-F238E27FC236}">
                      <a16:creationId xmlns:a16="http://schemas.microsoft.com/office/drawing/2014/main" id="{89DF0443-3584-4D22-8D2E-ABFC2A8CE729}"/>
                    </a:ext>
                  </a:extLst>
                </p:cNvPr>
                <p:cNvSpPr>
                  <a:spLocks noChangeAspect="1"/>
                </p:cNvSpPr>
                <p:nvPr/>
              </p:nvSpPr>
              <p:spPr bwMode="auto">
                <a:xfrm>
                  <a:off x="5993305" y="3617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4" name="Square">
                  <a:extLst>
                    <a:ext uri="{FF2B5EF4-FFF2-40B4-BE49-F238E27FC236}">
                      <a16:creationId xmlns:a16="http://schemas.microsoft.com/office/drawing/2014/main" id="{587BEAC7-2DA5-404C-B31E-6825358E345C}"/>
                    </a:ext>
                  </a:extLst>
                </p:cNvPr>
                <p:cNvSpPr>
                  <a:spLocks noChangeAspect="1"/>
                </p:cNvSpPr>
                <p:nvPr/>
              </p:nvSpPr>
              <p:spPr bwMode="auto">
                <a:xfrm>
                  <a:off x="6411103" y="44346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5" name="Square">
                  <a:extLst>
                    <a:ext uri="{FF2B5EF4-FFF2-40B4-BE49-F238E27FC236}">
                      <a16:creationId xmlns:a16="http://schemas.microsoft.com/office/drawing/2014/main" id="{F7DBD916-88F9-4CC2-AA8D-7F5E7842EB54}"/>
                    </a:ext>
                  </a:extLst>
                </p:cNvPr>
                <p:cNvSpPr>
                  <a:spLocks noChangeAspect="1"/>
                </p:cNvSpPr>
                <p:nvPr/>
              </p:nvSpPr>
              <p:spPr bwMode="auto">
                <a:xfrm>
                  <a:off x="5211503" y="294502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6" name="Square">
                  <a:extLst>
                    <a:ext uri="{FF2B5EF4-FFF2-40B4-BE49-F238E27FC236}">
                      <a16:creationId xmlns:a16="http://schemas.microsoft.com/office/drawing/2014/main" id="{B57E24D6-3C08-4ACF-B969-23C1115DF723}"/>
                    </a:ext>
                  </a:extLst>
                </p:cNvPr>
                <p:cNvSpPr>
                  <a:spLocks noChangeAspect="1"/>
                </p:cNvSpPr>
                <p:nvPr/>
              </p:nvSpPr>
              <p:spPr bwMode="auto">
                <a:xfrm>
                  <a:off x="5260244" y="250025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7" name="Square">
                  <a:extLst>
                    <a:ext uri="{FF2B5EF4-FFF2-40B4-BE49-F238E27FC236}">
                      <a16:creationId xmlns:a16="http://schemas.microsoft.com/office/drawing/2014/main" id="{0CDBA0E1-8577-4AE0-894B-80A6A598C4C0}"/>
                    </a:ext>
                  </a:extLst>
                </p:cNvPr>
                <p:cNvSpPr>
                  <a:spLocks noChangeAspect="1"/>
                </p:cNvSpPr>
                <p:nvPr/>
              </p:nvSpPr>
              <p:spPr bwMode="auto">
                <a:xfrm>
                  <a:off x="5989353" y="484145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8" name="Square">
                  <a:extLst>
                    <a:ext uri="{FF2B5EF4-FFF2-40B4-BE49-F238E27FC236}">
                      <a16:creationId xmlns:a16="http://schemas.microsoft.com/office/drawing/2014/main" id="{1D80FFDE-1C4F-440A-BBCD-BDE72DD69BF4}"/>
                    </a:ext>
                  </a:extLst>
                </p:cNvPr>
                <p:cNvSpPr>
                  <a:spLocks noChangeAspect="1"/>
                </p:cNvSpPr>
                <p:nvPr/>
              </p:nvSpPr>
              <p:spPr bwMode="auto">
                <a:xfrm>
                  <a:off x="7730579" y="2194356"/>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9" name="Square">
                  <a:extLst>
                    <a:ext uri="{FF2B5EF4-FFF2-40B4-BE49-F238E27FC236}">
                      <a16:creationId xmlns:a16="http://schemas.microsoft.com/office/drawing/2014/main" id="{80EB867B-789A-4F98-B77E-8A26ADD0A50D}"/>
                    </a:ext>
                  </a:extLst>
                </p:cNvPr>
                <p:cNvSpPr>
                  <a:spLocks noChangeAspect="1"/>
                </p:cNvSpPr>
                <p:nvPr/>
              </p:nvSpPr>
              <p:spPr bwMode="auto">
                <a:xfrm>
                  <a:off x="7863412" y="252808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0" name="Square">
                  <a:extLst>
                    <a:ext uri="{FF2B5EF4-FFF2-40B4-BE49-F238E27FC236}">
                      <a16:creationId xmlns:a16="http://schemas.microsoft.com/office/drawing/2014/main" id="{83C0503D-3509-4CAA-9F27-7CA59F95A6D2}"/>
                    </a:ext>
                  </a:extLst>
                </p:cNvPr>
                <p:cNvSpPr>
                  <a:spLocks noChangeAspect="1"/>
                </p:cNvSpPr>
                <p:nvPr/>
              </p:nvSpPr>
              <p:spPr bwMode="auto">
                <a:xfrm>
                  <a:off x="8643597" y="33008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1" name="Square">
                  <a:extLst>
                    <a:ext uri="{FF2B5EF4-FFF2-40B4-BE49-F238E27FC236}">
                      <a16:creationId xmlns:a16="http://schemas.microsoft.com/office/drawing/2014/main" id="{F2FED410-77C9-4C8A-A7D7-D2AC1BAD9ABA}"/>
                    </a:ext>
                  </a:extLst>
                </p:cNvPr>
                <p:cNvSpPr>
                  <a:spLocks noChangeAspect="1"/>
                </p:cNvSpPr>
                <p:nvPr/>
              </p:nvSpPr>
              <p:spPr bwMode="auto">
                <a:xfrm>
                  <a:off x="9911181" y="35846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2" name="Square">
                  <a:extLst>
                    <a:ext uri="{FF2B5EF4-FFF2-40B4-BE49-F238E27FC236}">
                      <a16:creationId xmlns:a16="http://schemas.microsoft.com/office/drawing/2014/main" id="{266F28C3-FEDA-4D4F-A656-5E6C1C1509CB}"/>
                    </a:ext>
                  </a:extLst>
                </p:cNvPr>
                <p:cNvSpPr>
                  <a:spLocks noChangeAspect="1"/>
                </p:cNvSpPr>
                <p:nvPr/>
              </p:nvSpPr>
              <p:spPr bwMode="auto">
                <a:xfrm>
                  <a:off x="10040202" y="3287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3" name="Square">
                  <a:extLst>
                    <a:ext uri="{FF2B5EF4-FFF2-40B4-BE49-F238E27FC236}">
                      <a16:creationId xmlns:a16="http://schemas.microsoft.com/office/drawing/2014/main" id="{B92CF2A8-63EC-4EDF-9129-712E62A03D3F}"/>
                    </a:ext>
                  </a:extLst>
                </p:cNvPr>
                <p:cNvSpPr>
                  <a:spLocks noChangeAspect="1"/>
                </p:cNvSpPr>
                <p:nvPr/>
              </p:nvSpPr>
              <p:spPr bwMode="auto">
                <a:xfrm>
                  <a:off x="6039855" y="237250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4" name="Square">
                  <a:extLst>
                    <a:ext uri="{FF2B5EF4-FFF2-40B4-BE49-F238E27FC236}">
                      <a16:creationId xmlns:a16="http://schemas.microsoft.com/office/drawing/2014/main" id="{ACBA3D2E-030D-416B-87C6-296095DC88D6}"/>
                    </a:ext>
                  </a:extLst>
                </p:cNvPr>
                <p:cNvSpPr>
                  <a:spLocks noChangeAspect="1"/>
                </p:cNvSpPr>
                <p:nvPr/>
              </p:nvSpPr>
              <p:spPr bwMode="auto">
                <a:xfrm>
                  <a:off x="9727496" y="372135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a:t> </a:t>
                  </a:r>
                </a:p>
              </p:txBody>
            </p:sp>
            <p:sp>
              <p:nvSpPr>
                <p:cNvPr id="165" name="Square">
                  <a:extLst>
                    <a:ext uri="{FF2B5EF4-FFF2-40B4-BE49-F238E27FC236}">
                      <a16:creationId xmlns:a16="http://schemas.microsoft.com/office/drawing/2014/main" id="{C3D851AA-9876-40A4-A90A-4DBBDAB3721F}"/>
                    </a:ext>
                  </a:extLst>
                </p:cNvPr>
                <p:cNvSpPr>
                  <a:spLocks noChangeAspect="1"/>
                </p:cNvSpPr>
                <p:nvPr/>
              </p:nvSpPr>
              <p:spPr bwMode="auto">
                <a:xfrm>
                  <a:off x="9700508" y="363563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a:t> </a:t>
                  </a:r>
                </a:p>
              </p:txBody>
            </p:sp>
            <p:sp>
              <p:nvSpPr>
                <p:cNvPr id="166" name="Square">
                  <a:extLst>
                    <a:ext uri="{FF2B5EF4-FFF2-40B4-BE49-F238E27FC236}">
                      <a16:creationId xmlns:a16="http://schemas.microsoft.com/office/drawing/2014/main" id="{07D48B8E-C284-41A7-BF7A-0256A63B4A12}"/>
                    </a:ext>
                  </a:extLst>
                </p:cNvPr>
                <p:cNvSpPr>
                  <a:spLocks noChangeAspect="1"/>
                </p:cNvSpPr>
                <p:nvPr/>
              </p:nvSpPr>
              <p:spPr bwMode="auto">
                <a:xfrm>
                  <a:off x="10924991" y="4583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7" name="Square">
                  <a:extLst>
                    <a:ext uri="{FF2B5EF4-FFF2-40B4-BE49-F238E27FC236}">
                      <a16:creationId xmlns:a16="http://schemas.microsoft.com/office/drawing/2014/main" id="{A5957E3F-A679-4C04-A3A8-73CB64534C2B}"/>
                    </a:ext>
                  </a:extLst>
                </p:cNvPr>
                <p:cNvSpPr>
                  <a:spLocks noChangeAspect="1"/>
                </p:cNvSpPr>
                <p:nvPr/>
              </p:nvSpPr>
              <p:spPr bwMode="auto">
                <a:xfrm>
                  <a:off x="10272877" y="357910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8" name="Square">
                  <a:extLst>
                    <a:ext uri="{FF2B5EF4-FFF2-40B4-BE49-F238E27FC236}">
                      <a16:creationId xmlns:a16="http://schemas.microsoft.com/office/drawing/2014/main" id="{EE108706-5B9D-455F-BB7C-5EF565F2E239}"/>
                    </a:ext>
                  </a:extLst>
                </p:cNvPr>
                <p:cNvSpPr>
                  <a:spLocks noChangeAspect="1"/>
                </p:cNvSpPr>
                <p:nvPr/>
              </p:nvSpPr>
              <p:spPr bwMode="auto">
                <a:xfrm>
                  <a:off x="7413183" y="27916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grpSp>
        </p:grpSp>
      </p:grpSp>
    </p:spTree>
    <p:extLst>
      <p:ext uri="{BB962C8B-B14F-4D97-AF65-F5344CB8AC3E}">
        <p14:creationId xmlns:p14="http://schemas.microsoft.com/office/powerpoint/2010/main" val="2830033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36757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32360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vl1pPr>
            <a:lvl2pPr marL="182880" indent="0">
              <a:buNone/>
              <a:defRPr/>
            </a:lvl2pPr>
            <a:lvl3pPr marL="365760" indent="0">
              <a:buNone/>
              <a:defRPr/>
            </a:lvl3pPr>
            <a:lvl4pPr marL="548640" indent="0">
              <a:buNone/>
              <a:defRPr/>
            </a:lvl4pPr>
            <a:lvl5pPr marL="731520" indent="0">
              <a:buNone/>
              <a:defRPr/>
            </a:lvl5pPr>
          </a:lstStyle>
          <a:p>
            <a:r>
              <a:rPr lang="en-US"/>
              <a:t>Agenda items are Arial Regular 18pt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Tree>
    <p:extLst>
      <p:ext uri="{BB962C8B-B14F-4D97-AF65-F5344CB8AC3E}">
        <p14:creationId xmlns:p14="http://schemas.microsoft.com/office/powerpoint/2010/main" val="334963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127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4128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304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699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071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978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645794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0262331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6355205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21017959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24438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639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62128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408633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020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2047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a:p>
        </p:txBody>
      </p:sp>
    </p:spTree>
    <p:extLst>
      <p:ext uri="{BB962C8B-B14F-4D97-AF65-F5344CB8AC3E}">
        <p14:creationId xmlns:p14="http://schemas.microsoft.com/office/powerpoint/2010/main" val="369792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912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454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6184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Tree>
    <p:extLst>
      <p:ext uri="{BB962C8B-B14F-4D97-AF65-F5344CB8AC3E}">
        <p14:creationId xmlns:p14="http://schemas.microsoft.com/office/powerpoint/2010/main" val="115389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47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16577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4805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2148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875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74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4184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2404258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71450" indent="-171450">
              <a:spcBef>
                <a:spcPts val="600"/>
              </a:spcBef>
              <a:buFont typeface="Wingdings" pitchFamily="2" charset="2"/>
              <a:buChar char="§"/>
              <a:defRPr sz="1200"/>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Tree>
    <p:extLst>
      <p:ext uri="{BB962C8B-B14F-4D97-AF65-F5344CB8AC3E}">
        <p14:creationId xmlns:p14="http://schemas.microsoft.com/office/powerpoint/2010/main" val="203712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43208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2310702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30088234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42200396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530367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5154977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0623318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7684934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36684214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00698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012909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34296827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1546167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2022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38764154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2022 UST Global Inc</a:t>
            </a:r>
          </a:p>
        </p:txBody>
      </p:sp>
    </p:spTree>
    <p:extLst>
      <p:ext uri="{BB962C8B-B14F-4D97-AF65-F5344CB8AC3E}">
        <p14:creationId xmlns:p14="http://schemas.microsoft.com/office/powerpoint/2010/main" val="408272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03128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740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062672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7400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5894231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7676438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2024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268513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26981658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2251"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2251"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41167644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9" Type="http://schemas.openxmlformats.org/officeDocument/2006/relationships/slideLayout" Target="../slideLayouts/slideLayout58.xml"/><Relationship Id="rId21" Type="http://schemas.openxmlformats.org/officeDocument/2006/relationships/slideLayout" Target="../slideLayouts/slideLayout40.xml"/><Relationship Id="rId34" Type="http://schemas.openxmlformats.org/officeDocument/2006/relationships/slideLayout" Target="../slideLayouts/slideLayout53.xml"/><Relationship Id="rId42" Type="http://schemas.openxmlformats.org/officeDocument/2006/relationships/slideLayout" Target="../slideLayouts/slideLayout61.xml"/><Relationship Id="rId47" Type="http://schemas.openxmlformats.org/officeDocument/2006/relationships/slideLayout" Target="../slideLayouts/slideLayout66.xml"/><Relationship Id="rId50" Type="http://schemas.openxmlformats.org/officeDocument/2006/relationships/slideLayout" Target="../slideLayouts/slideLayout69.xml"/><Relationship Id="rId55" Type="http://schemas.openxmlformats.org/officeDocument/2006/relationships/slideLayout" Target="../slideLayouts/slideLayout74.xml"/><Relationship Id="rId63" Type="http://schemas.openxmlformats.org/officeDocument/2006/relationships/theme" Target="../theme/theme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9" Type="http://schemas.openxmlformats.org/officeDocument/2006/relationships/slideLayout" Target="../slideLayouts/slideLayout48.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slideLayout" Target="../slideLayouts/slideLayout51.xml"/><Relationship Id="rId37" Type="http://schemas.openxmlformats.org/officeDocument/2006/relationships/slideLayout" Target="../slideLayouts/slideLayout56.xml"/><Relationship Id="rId40" Type="http://schemas.openxmlformats.org/officeDocument/2006/relationships/slideLayout" Target="../slideLayouts/slideLayout59.xml"/><Relationship Id="rId45" Type="http://schemas.openxmlformats.org/officeDocument/2006/relationships/slideLayout" Target="../slideLayouts/slideLayout64.xml"/><Relationship Id="rId53" Type="http://schemas.openxmlformats.org/officeDocument/2006/relationships/slideLayout" Target="../slideLayouts/slideLayout72.xml"/><Relationship Id="rId58" Type="http://schemas.openxmlformats.org/officeDocument/2006/relationships/slideLayout" Target="../slideLayouts/slideLayout77.xml"/><Relationship Id="rId5" Type="http://schemas.openxmlformats.org/officeDocument/2006/relationships/slideLayout" Target="../slideLayouts/slideLayout24.xml"/><Relationship Id="rId61" Type="http://schemas.openxmlformats.org/officeDocument/2006/relationships/slideLayout" Target="../slideLayouts/slideLayout80.xml"/><Relationship Id="rId19" Type="http://schemas.openxmlformats.org/officeDocument/2006/relationships/slideLayout" Target="../slideLayouts/slideLayout3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slideLayout" Target="../slideLayouts/slideLayout54.xml"/><Relationship Id="rId43" Type="http://schemas.openxmlformats.org/officeDocument/2006/relationships/slideLayout" Target="../slideLayouts/slideLayout62.xml"/><Relationship Id="rId48" Type="http://schemas.openxmlformats.org/officeDocument/2006/relationships/slideLayout" Target="../slideLayouts/slideLayout67.xml"/><Relationship Id="rId56" Type="http://schemas.openxmlformats.org/officeDocument/2006/relationships/slideLayout" Target="../slideLayouts/slideLayout75.xml"/><Relationship Id="rId8" Type="http://schemas.openxmlformats.org/officeDocument/2006/relationships/slideLayout" Target="../slideLayouts/slideLayout27.xml"/><Relationship Id="rId51" Type="http://schemas.openxmlformats.org/officeDocument/2006/relationships/slideLayout" Target="../slideLayouts/slideLayout70.xml"/><Relationship Id="rId3" Type="http://schemas.openxmlformats.org/officeDocument/2006/relationships/slideLayout" Target="../slideLayouts/slideLayout22.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slideLayout" Target="../slideLayouts/slideLayout52.xml"/><Relationship Id="rId38" Type="http://schemas.openxmlformats.org/officeDocument/2006/relationships/slideLayout" Target="../slideLayouts/slideLayout57.xml"/><Relationship Id="rId46" Type="http://schemas.openxmlformats.org/officeDocument/2006/relationships/slideLayout" Target="../slideLayouts/slideLayout65.xml"/><Relationship Id="rId59" Type="http://schemas.openxmlformats.org/officeDocument/2006/relationships/slideLayout" Target="../slideLayouts/slideLayout78.xml"/><Relationship Id="rId20" Type="http://schemas.openxmlformats.org/officeDocument/2006/relationships/slideLayout" Target="../slideLayouts/slideLayout39.xml"/><Relationship Id="rId41" Type="http://schemas.openxmlformats.org/officeDocument/2006/relationships/slideLayout" Target="../slideLayouts/slideLayout60.xml"/><Relationship Id="rId54" Type="http://schemas.openxmlformats.org/officeDocument/2006/relationships/slideLayout" Target="../slideLayouts/slideLayout73.xml"/><Relationship Id="rId62" Type="http://schemas.openxmlformats.org/officeDocument/2006/relationships/slideLayout" Target="../slideLayouts/slideLayout8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36" Type="http://schemas.openxmlformats.org/officeDocument/2006/relationships/slideLayout" Target="../slideLayouts/slideLayout55.xml"/><Relationship Id="rId49" Type="http://schemas.openxmlformats.org/officeDocument/2006/relationships/slideLayout" Target="../slideLayouts/slideLayout68.xml"/><Relationship Id="rId57" Type="http://schemas.openxmlformats.org/officeDocument/2006/relationships/slideLayout" Target="../slideLayouts/slideLayout76.xml"/><Relationship Id="rId10" Type="http://schemas.openxmlformats.org/officeDocument/2006/relationships/slideLayout" Target="../slideLayouts/slideLayout29.xml"/><Relationship Id="rId31" Type="http://schemas.openxmlformats.org/officeDocument/2006/relationships/slideLayout" Target="../slideLayouts/slideLayout50.xml"/><Relationship Id="rId44" Type="http://schemas.openxmlformats.org/officeDocument/2006/relationships/slideLayout" Target="../slideLayouts/slideLayout63.xml"/><Relationship Id="rId52" Type="http://schemas.openxmlformats.org/officeDocument/2006/relationships/slideLayout" Target="../slideLayouts/slideLayout71.xml"/><Relationship Id="rId60" Type="http://schemas.openxmlformats.org/officeDocument/2006/relationships/slideLayout" Target="../slideLayouts/slideLayout7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08/06/24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4094"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9487"/>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3725807836"/>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54"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 id="2147484065" r:id="rId35"/>
    <p:sldLayoutId id="2147484066" r:id="rId36"/>
    <p:sldLayoutId id="2147484067" r:id="rId37"/>
    <p:sldLayoutId id="2147484068" r:id="rId38"/>
    <p:sldLayoutId id="2147484069" r:id="rId39"/>
    <p:sldLayoutId id="2147484070" r:id="rId40"/>
    <p:sldLayoutId id="2147484071" r:id="rId41"/>
    <p:sldLayoutId id="2147484072" r:id="rId42"/>
    <p:sldLayoutId id="2147484073" r:id="rId43"/>
    <p:sldLayoutId id="2147484074" r:id="rId44"/>
    <p:sldLayoutId id="2147484075" r:id="rId45"/>
    <p:sldLayoutId id="2147484076" r:id="rId46"/>
    <p:sldLayoutId id="2147484077" r:id="rId47"/>
    <p:sldLayoutId id="2147484078" r:id="rId48"/>
    <p:sldLayoutId id="2147484079" r:id="rId49"/>
    <p:sldLayoutId id="2147484080" r:id="rId50"/>
    <p:sldLayoutId id="2147484081" r:id="rId51"/>
    <p:sldLayoutId id="2147484082" r:id="rId52"/>
    <p:sldLayoutId id="2147484083" r:id="rId53"/>
    <p:sldLayoutId id="2147484084" r:id="rId54"/>
    <p:sldLayoutId id="2147484085" r:id="rId55"/>
    <p:sldLayoutId id="2147484086" r:id="rId56"/>
    <p:sldLayoutId id="2147484087" r:id="rId57"/>
    <p:sldLayoutId id="2147484088" r:id="rId58"/>
    <p:sldLayoutId id="2147484089" r:id="rId59"/>
    <p:sldLayoutId id="2147484090" r:id="rId60"/>
    <p:sldLayoutId id="2147484091" r:id="rId61"/>
    <p:sldLayoutId id="2147484092" r:id="rId6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incidentresponse.org/playbooks/improper-computer-usage"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group of people looking at a tablet&#10;&#10;Description automatically generated">
            <a:extLst>
              <a:ext uri="{FF2B5EF4-FFF2-40B4-BE49-F238E27FC236}">
                <a16:creationId xmlns:a16="http://schemas.microsoft.com/office/drawing/2014/main" id="{DC04D4D7-CE9A-4E96-874C-BB59CD6151EA}"/>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10820" r="10820"/>
          <a:stretch>
            <a:fillRect/>
          </a:stretch>
        </p:blipFill>
        <p:spPr>
          <a:xfrm>
            <a:off x="4433361" y="-1"/>
            <a:ext cx="7758639" cy="6856615"/>
          </a:xfrm>
        </p:spPr>
      </p:pic>
      <p:sp>
        <p:nvSpPr>
          <p:cNvPr id="3" name="Title 2">
            <a:extLst>
              <a:ext uri="{FF2B5EF4-FFF2-40B4-BE49-F238E27FC236}">
                <a16:creationId xmlns:a16="http://schemas.microsoft.com/office/drawing/2014/main" id="{D9D48068-D79A-854B-97D3-5A3213DCCD48}"/>
              </a:ext>
            </a:extLst>
          </p:cNvPr>
          <p:cNvSpPr>
            <a:spLocks noGrp="1"/>
          </p:cNvSpPr>
          <p:nvPr>
            <p:ph type="ctrTitle"/>
          </p:nvPr>
        </p:nvSpPr>
        <p:spPr>
          <a:xfrm>
            <a:off x="896279" y="1559500"/>
            <a:ext cx="4532630" cy="3737611"/>
          </a:xfrm>
        </p:spPr>
        <p:txBody>
          <a:bodyPr/>
          <a:lstStyle/>
          <a:p>
            <a:r>
              <a:rPr lang="en-US" dirty="0">
                <a:latin typeface="Arial"/>
                <a:cs typeface="Arial"/>
              </a:rPr>
              <a:t>Site Reliability Engineering (SRE)</a:t>
            </a:r>
            <a:br>
              <a:rPr lang="en-US" dirty="0">
                <a:latin typeface="Arial"/>
                <a:cs typeface="Arial"/>
              </a:rPr>
            </a:br>
            <a:br>
              <a:rPr lang="en-US" dirty="0">
                <a:latin typeface="Arial"/>
                <a:cs typeface="Arial"/>
              </a:rPr>
            </a:br>
            <a:r>
              <a:rPr lang="en-US" sz="2400" dirty="0">
                <a:latin typeface="Arial"/>
                <a:cs typeface="Arial"/>
              </a:rPr>
              <a:t>The journey starts here..</a:t>
            </a:r>
            <a:endParaRPr lang="en-US" dirty="0">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592116BB-104D-7945-A750-5D46BA210C10}"/>
              </a:ext>
            </a:extLst>
          </p:cNvPr>
          <p:cNvSpPr>
            <a:spLocks noGrp="1"/>
          </p:cNvSpPr>
          <p:nvPr>
            <p:ph type="body" sz="quarter" idx="11"/>
          </p:nvPr>
        </p:nvSpPr>
        <p:spPr>
          <a:xfrm>
            <a:off x="1124251" y="4122238"/>
            <a:ext cx="3855718" cy="914400"/>
          </a:xfrm>
        </p:spPr>
        <p:txBody>
          <a:bodyPr/>
          <a:lstStyle/>
          <a:p>
            <a:r>
              <a:rPr lang="en-US" dirty="0">
                <a:latin typeface="Arial" panose="020B0604020202020204" pitchFamily="34" charset="0"/>
                <a:cs typeface="Arial" panose="020B0604020202020204" pitchFamily="34" charset="0"/>
              </a:rPr>
              <a:t>July 2024</a:t>
            </a:r>
          </a:p>
        </p:txBody>
      </p:sp>
    </p:spTree>
    <p:extLst>
      <p:ext uri="{BB962C8B-B14F-4D97-AF65-F5344CB8AC3E}">
        <p14:creationId xmlns:p14="http://schemas.microsoft.com/office/powerpoint/2010/main" val="159119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C2ADD8F6-0E9F-F744-A8A6-E13944A22155}"/>
              </a:ext>
            </a:extLst>
          </p:cNvPr>
          <p:cNvSpPr>
            <a:spLocks noGrp="1"/>
          </p:cNvSpPr>
          <p:nvPr>
            <p:ph type="title"/>
          </p:nvPr>
        </p:nvSpPr>
        <p:spPr>
          <a:xfrm>
            <a:off x="1746397" y="2377440"/>
            <a:ext cx="8503920" cy="2103120"/>
          </a:xfrm>
        </p:spPr>
        <p:txBody>
          <a:bodyPr>
            <a:normAutofit fontScale="90000"/>
          </a:bodyPr>
          <a:lstStyle/>
          <a:p>
            <a:pPr algn="ctr"/>
            <a:r>
              <a:rPr lang="en-US" dirty="0">
                <a:latin typeface="Gabriola" panose="04040605051002020D02" pitchFamily="82" charset="0"/>
              </a:rPr>
              <a:t>“</a:t>
            </a:r>
            <a:r>
              <a:rPr lang="en-US" sz="5300" dirty="0">
                <a:latin typeface="Gabriola" panose="04040605051002020D02" pitchFamily="82" charset="0"/>
              </a:rPr>
              <a:t>Site Reliability Engineers must see the system as a whole and treat its interconnections with as much attention and respect as the components themselves”</a:t>
            </a:r>
            <a:endParaRPr lang="en-US" dirty="0">
              <a:latin typeface="Gabriola" panose="04040605051002020D02" pitchFamily="82" charset="0"/>
            </a:endParaRPr>
          </a:p>
        </p:txBody>
      </p:sp>
    </p:spTree>
    <p:extLst>
      <p:ext uri="{BB962C8B-B14F-4D97-AF65-F5344CB8AC3E}">
        <p14:creationId xmlns:p14="http://schemas.microsoft.com/office/powerpoint/2010/main" val="33651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What is Site Reliability Engineering?</a:t>
            </a:r>
          </a:p>
        </p:txBody>
      </p:sp>
      <p:grpSp>
        <p:nvGrpSpPr>
          <p:cNvPr id="3" name="Group 2">
            <a:extLst>
              <a:ext uri="{FF2B5EF4-FFF2-40B4-BE49-F238E27FC236}">
                <a16:creationId xmlns:a16="http://schemas.microsoft.com/office/drawing/2014/main" id="{2C44C7A5-3817-453D-BA55-100610C9B015}"/>
              </a:ext>
            </a:extLst>
          </p:cNvPr>
          <p:cNvGrpSpPr/>
          <p:nvPr/>
        </p:nvGrpSpPr>
        <p:grpSpPr>
          <a:xfrm>
            <a:off x="309657" y="1038160"/>
            <a:ext cx="11572685" cy="4781680"/>
            <a:chOff x="232243" y="636950"/>
            <a:chExt cx="8679514" cy="3586258"/>
          </a:xfrm>
        </p:grpSpPr>
        <p:sp>
          <p:nvSpPr>
            <p:cNvPr id="40" name="Freeform: Shape 39">
              <a:extLst>
                <a:ext uri="{FF2B5EF4-FFF2-40B4-BE49-F238E27FC236}">
                  <a16:creationId xmlns:a16="http://schemas.microsoft.com/office/drawing/2014/main" id="{D43F2592-5D1A-480E-B659-276EB2FD12A4}"/>
                </a:ext>
              </a:extLst>
            </p:cNvPr>
            <p:cNvSpPr/>
            <p:nvPr/>
          </p:nvSpPr>
          <p:spPr>
            <a:xfrm>
              <a:off x="232243" y="933318"/>
              <a:ext cx="4045518" cy="491968"/>
            </a:xfrm>
            <a:custGeom>
              <a:avLst/>
              <a:gdLst>
                <a:gd name="connsiteX0" fmla="*/ 0 w 2466175"/>
                <a:gd name="connsiteY0" fmla="*/ 0 h 986470"/>
                <a:gd name="connsiteX1" fmla="*/ 2466175 w 2466175"/>
                <a:gd name="connsiteY1" fmla="*/ 0 h 986470"/>
                <a:gd name="connsiteX2" fmla="*/ 2466175 w 2466175"/>
                <a:gd name="connsiteY2" fmla="*/ 986470 h 986470"/>
                <a:gd name="connsiteX3" fmla="*/ 0 w 2466175"/>
                <a:gd name="connsiteY3" fmla="*/ 986470 h 986470"/>
                <a:gd name="connsiteX4" fmla="*/ 0 w 2466175"/>
                <a:gd name="connsiteY4" fmla="*/ 0 h 986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6175" h="986470">
                  <a:moveTo>
                    <a:pt x="0" y="0"/>
                  </a:moveTo>
                  <a:lnTo>
                    <a:pt x="2466175" y="0"/>
                  </a:lnTo>
                  <a:lnTo>
                    <a:pt x="2466175" y="986470"/>
                  </a:lnTo>
                  <a:lnTo>
                    <a:pt x="0" y="986470"/>
                  </a:lnTo>
                  <a:lnTo>
                    <a:pt x="0" y="0"/>
                  </a:lnTo>
                  <a:close/>
                </a:path>
              </a:pathLst>
            </a:custGeom>
            <a:solidFill>
              <a:schemeClr val="tx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000" tIns="144000" rIns="72000" bIns="144000" numCol="1" spcCol="1270" anchor="b" anchorCtr="0">
              <a:noAutofit/>
            </a:bodyPr>
            <a:lstStyle/>
            <a:p>
              <a:pPr algn="ctr" defTabSz="533387">
                <a:lnSpc>
                  <a:spcPct val="90000"/>
                </a:lnSpc>
                <a:spcBef>
                  <a:spcPct val="0"/>
                </a:spcBef>
                <a:spcAft>
                  <a:spcPct val="35000"/>
                </a:spcAft>
              </a:pPr>
              <a:r>
                <a:rPr lang="en-US" b="1" dirty="0">
                  <a:latin typeface="+mj-lt"/>
                </a:rPr>
                <a:t>DEFINITION</a:t>
              </a:r>
              <a:endParaRPr lang="en-US" sz="1467" b="1" dirty="0">
                <a:latin typeface="+mj-lt"/>
              </a:endParaRPr>
            </a:p>
          </p:txBody>
        </p:sp>
        <p:sp>
          <p:nvSpPr>
            <p:cNvPr id="42" name="Oval 41">
              <a:extLst>
                <a:ext uri="{FF2B5EF4-FFF2-40B4-BE49-F238E27FC236}">
                  <a16:creationId xmlns:a16="http://schemas.microsoft.com/office/drawing/2014/main" id="{E26504CF-A560-4D73-A6F7-AC9B59F7DD93}"/>
                </a:ext>
              </a:extLst>
            </p:cNvPr>
            <p:cNvSpPr/>
            <p:nvPr/>
          </p:nvSpPr>
          <p:spPr>
            <a:xfrm>
              <a:off x="2002904" y="689955"/>
              <a:ext cx="482616" cy="438742"/>
            </a:xfrm>
            <a:prstGeom prst="ellipse">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90466"/>
              <a:endParaRPr lang="en-US" sz="1467">
                <a:solidFill>
                  <a:prstClr val="white"/>
                </a:solidFill>
              </a:endParaRPr>
            </a:p>
          </p:txBody>
        </p:sp>
        <p:sp>
          <p:nvSpPr>
            <p:cNvPr id="53" name="Freeform: Shape 52">
              <a:extLst>
                <a:ext uri="{FF2B5EF4-FFF2-40B4-BE49-F238E27FC236}">
                  <a16:creationId xmlns:a16="http://schemas.microsoft.com/office/drawing/2014/main" id="{E1F31066-F85A-49E3-B4EB-8C0B8ADF482F}"/>
                </a:ext>
              </a:extLst>
            </p:cNvPr>
            <p:cNvSpPr/>
            <p:nvPr/>
          </p:nvSpPr>
          <p:spPr>
            <a:xfrm>
              <a:off x="4866240" y="933318"/>
              <a:ext cx="4045517" cy="491968"/>
            </a:xfrm>
            <a:custGeom>
              <a:avLst/>
              <a:gdLst>
                <a:gd name="connsiteX0" fmla="*/ 0 w 2466175"/>
                <a:gd name="connsiteY0" fmla="*/ 0 h 986470"/>
                <a:gd name="connsiteX1" fmla="*/ 2466175 w 2466175"/>
                <a:gd name="connsiteY1" fmla="*/ 0 h 986470"/>
                <a:gd name="connsiteX2" fmla="*/ 2466175 w 2466175"/>
                <a:gd name="connsiteY2" fmla="*/ 986470 h 986470"/>
                <a:gd name="connsiteX3" fmla="*/ 0 w 2466175"/>
                <a:gd name="connsiteY3" fmla="*/ 986470 h 986470"/>
                <a:gd name="connsiteX4" fmla="*/ 0 w 2466175"/>
                <a:gd name="connsiteY4" fmla="*/ 0 h 986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6175" h="986470">
                  <a:moveTo>
                    <a:pt x="0" y="0"/>
                  </a:moveTo>
                  <a:lnTo>
                    <a:pt x="2466175" y="0"/>
                  </a:lnTo>
                  <a:lnTo>
                    <a:pt x="2466175" y="986470"/>
                  </a:lnTo>
                  <a:lnTo>
                    <a:pt x="0" y="986470"/>
                  </a:lnTo>
                  <a:lnTo>
                    <a:pt x="0" y="0"/>
                  </a:lnTo>
                  <a:close/>
                </a:path>
              </a:pathLst>
            </a:custGeom>
            <a:solidFill>
              <a:schemeClr val="accent1"/>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000" tIns="144000" rIns="72000" bIns="144000" numCol="1" spcCol="1270" anchor="b" anchorCtr="0">
              <a:noAutofit/>
            </a:bodyPr>
            <a:lstStyle/>
            <a:p>
              <a:pPr algn="ctr" defTabSz="533387">
                <a:lnSpc>
                  <a:spcPct val="90000"/>
                </a:lnSpc>
                <a:spcBef>
                  <a:spcPct val="0"/>
                </a:spcBef>
                <a:spcAft>
                  <a:spcPct val="35000"/>
                </a:spcAft>
              </a:pPr>
              <a:r>
                <a:rPr lang="en-US" sz="2000" b="1" dirty="0">
                  <a:latin typeface="+mj-lt"/>
                </a:rPr>
                <a:t>GOAL</a:t>
              </a:r>
              <a:endParaRPr lang="en-US" sz="1467" b="1" dirty="0">
                <a:latin typeface="+mj-lt"/>
              </a:endParaRPr>
            </a:p>
          </p:txBody>
        </p:sp>
        <p:sp>
          <p:nvSpPr>
            <p:cNvPr id="55" name="Oval 54">
              <a:extLst>
                <a:ext uri="{FF2B5EF4-FFF2-40B4-BE49-F238E27FC236}">
                  <a16:creationId xmlns:a16="http://schemas.microsoft.com/office/drawing/2014/main" id="{938419DD-8FCC-4671-96D4-6F1498470E77}"/>
                </a:ext>
              </a:extLst>
            </p:cNvPr>
            <p:cNvSpPr/>
            <p:nvPr/>
          </p:nvSpPr>
          <p:spPr>
            <a:xfrm>
              <a:off x="6639124" y="636950"/>
              <a:ext cx="482616" cy="438742"/>
            </a:xfrm>
            <a:prstGeom prst="ellipse">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90466"/>
              <a:endParaRPr lang="en-US" sz="1467">
                <a:solidFill>
                  <a:prstClr val="white"/>
                </a:solidFill>
              </a:endParaRPr>
            </a:p>
          </p:txBody>
        </p:sp>
        <p:sp>
          <p:nvSpPr>
            <p:cNvPr id="65" name="TextBox 64">
              <a:extLst>
                <a:ext uri="{FF2B5EF4-FFF2-40B4-BE49-F238E27FC236}">
                  <a16:creationId xmlns:a16="http://schemas.microsoft.com/office/drawing/2014/main" id="{331BCA04-2764-405F-A705-B531017FB09C}"/>
                </a:ext>
              </a:extLst>
            </p:cNvPr>
            <p:cNvSpPr txBox="1"/>
            <p:nvPr/>
          </p:nvSpPr>
          <p:spPr>
            <a:xfrm>
              <a:off x="232243" y="1473272"/>
              <a:ext cx="4045517" cy="2749936"/>
            </a:xfrm>
            <a:prstGeom prst="rect">
              <a:avLst/>
            </a:prstGeom>
            <a:solidFill>
              <a:srgbClr val="F2F2F2"/>
            </a:solidFill>
          </p:spPr>
          <p:txBody>
            <a:bodyPr wrap="square" lIns="144000" tIns="96000" rIns="144000" bIns="60960" rtlCol="0" anchor="t">
              <a:noAutofit/>
            </a:bodyPr>
            <a:lstStyle/>
            <a:p>
              <a:pPr marL="285750" indent="-285750">
                <a:spcBef>
                  <a:spcPts val="533"/>
                </a:spcBef>
                <a:spcAft>
                  <a:spcPts val="400"/>
                </a:spcAft>
                <a:buFont typeface="Arial" panose="020B0604020202020204" pitchFamily="34" charset="0"/>
                <a:buChar char="•"/>
              </a:pPr>
              <a:r>
                <a:rPr lang="en-US" sz="1600" dirty="0">
                  <a:cs typeface="Calibri"/>
                </a:rPr>
                <a:t>SRE is a discipline that incorporates aspects of software engineering and applies them to infrastructure and operations problems. </a:t>
              </a:r>
            </a:p>
            <a:p>
              <a:pPr marL="285750" indent="-285750">
                <a:spcBef>
                  <a:spcPts val="533"/>
                </a:spcBef>
                <a:spcAft>
                  <a:spcPts val="400"/>
                </a:spcAft>
                <a:buFont typeface="Arial" panose="020B0604020202020204" pitchFamily="34" charset="0"/>
                <a:buChar char="•"/>
              </a:pPr>
              <a:endParaRPr lang="en-US" sz="1600" dirty="0">
                <a:cs typeface="Calibri"/>
              </a:endParaRPr>
            </a:p>
            <a:p>
              <a:pPr marL="285750" indent="-285750">
                <a:spcBef>
                  <a:spcPts val="533"/>
                </a:spcBef>
                <a:spcAft>
                  <a:spcPts val="400"/>
                </a:spcAft>
                <a:buFont typeface="Arial" panose="020B0604020202020204" pitchFamily="34" charset="0"/>
                <a:buChar char="•"/>
              </a:pPr>
              <a:r>
                <a:rPr lang="en-US" sz="1600" dirty="0">
                  <a:cs typeface="Calibri"/>
                </a:rPr>
                <a:t>SRE is a software engineering practice that uses automation to improve the reliability of software systems.</a:t>
              </a:r>
            </a:p>
            <a:p>
              <a:pPr marL="285750" indent="-285750">
                <a:spcBef>
                  <a:spcPts val="533"/>
                </a:spcBef>
                <a:spcAft>
                  <a:spcPts val="400"/>
                </a:spcAft>
                <a:buFont typeface="Arial" panose="020B0604020202020204" pitchFamily="34" charset="0"/>
                <a:buChar char="•"/>
              </a:pPr>
              <a:endParaRPr lang="en-US" sz="1600" dirty="0">
                <a:cs typeface="Calibri"/>
              </a:endParaRPr>
            </a:p>
            <a:p>
              <a:pPr marL="285750" indent="-285750">
                <a:spcBef>
                  <a:spcPts val="533"/>
                </a:spcBef>
                <a:spcAft>
                  <a:spcPts val="400"/>
                </a:spcAft>
                <a:buFont typeface="Arial" panose="020B0604020202020204" pitchFamily="34" charset="0"/>
                <a:buChar char="•"/>
              </a:pPr>
              <a:r>
                <a:rPr lang="en-US" sz="1600" dirty="0">
                  <a:cs typeface="Calibri"/>
                </a:rPr>
                <a:t>SRE teams use software tools to perform IT operations tasks, such as: System management, Application monitoring, Change management, Incident response, and Emergency response.</a:t>
              </a:r>
            </a:p>
          </p:txBody>
        </p:sp>
        <p:sp>
          <p:nvSpPr>
            <p:cNvPr id="67" name="TextBox 66">
              <a:extLst>
                <a:ext uri="{FF2B5EF4-FFF2-40B4-BE49-F238E27FC236}">
                  <a16:creationId xmlns:a16="http://schemas.microsoft.com/office/drawing/2014/main" id="{6B414A04-8275-4ABC-B90E-E1085285DF55}"/>
                </a:ext>
              </a:extLst>
            </p:cNvPr>
            <p:cNvSpPr txBox="1"/>
            <p:nvPr/>
          </p:nvSpPr>
          <p:spPr>
            <a:xfrm>
              <a:off x="4866240" y="1473272"/>
              <a:ext cx="4045517" cy="2749936"/>
            </a:xfrm>
            <a:prstGeom prst="rect">
              <a:avLst/>
            </a:prstGeom>
            <a:solidFill>
              <a:srgbClr val="F2F2F2"/>
            </a:solidFill>
          </p:spPr>
          <p:txBody>
            <a:bodyPr wrap="square" lIns="144000" tIns="96000" rIns="144000" bIns="60960" rtlCol="0" anchor="t">
              <a:noAutofit/>
            </a:bodyPr>
            <a:lstStyle>
              <a:defPPr>
                <a:defRPr lang="en-US"/>
              </a:defPPr>
              <a:lvl1pPr>
                <a:spcBef>
                  <a:spcPts val="533"/>
                </a:spcBef>
                <a:spcAft>
                  <a:spcPts val="400"/>
                </a:spcAft>
                <a:defRPr sz="1600">
                  <a:cs typeface="Calibri"/>
                </a:defRPr>
              </a:lvl1pPr>
            </a:lstStyle>
            <a:p>
              <a:pPr marL="285750" indent="-285750">
                <a:buFont typeface="Arial" panose="020B0604020202020204" pitchFamily="34" charset="0"/>
                <a:buChar char="•"/>
              </a:pPr>
              <a:r>
                <a:rPr lang="en-US" dirty="0"/>
                <a:t>Ensure a reliable, scalable, and efficient service by applying engineering principles to operations tasks.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Serve as a bridge between development teams and operations teams, enabling the development team to bring new software or new features to production as quickly as possible.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Ensure an agreed-upon acceptable level of IT operations performance and error risk in line with the service level agreements (SLAs) the organization has in place with its customers.</a:t>
              </a:r>
            </a:p>
          </p:txBody>
        </p:sp>
        <p:sp>
          <p:nvSpPr>
            <p:cNvPr id="71" name="Freeform 320">
              <a:extLst>
                <a:ext uri="{FF2B5EF4-FFF2-40B4-BE49-F238E27FC236}">
                  <a16:creationId xmlns:a16="http://schemas.microsoft.com/office/drawing/2014/main" id="{C3418525-8B49-4F5A-9B05-27E29E64DA91}"/>
                </a:ext>
              </a:extLst>
            </p:cNvPr>
            <p:cNvSpPr>
              <a:spLocks noEditPoints="1"/>
            </p:cNvSpPr>
            <p:nvPr/>
          </p:nvSpPr>
          <p:spPr bwMode="auto">
            <a:xfrm>
              <a:off x="6720348" y="711334"/>
              <a:ext cx="320168" cy="289976"/>
            </a:xfrm>
            <a:custGeom>
              <a:avLst/>
              <a:gdLst>
                <a:gd name="T0" fmla="*/ 698 w 5262"/>
                <a:gd name="T1" fmla="*/ 4548 h 5245"/>
                <a:gd name="T2" fmla="*/ 44 w 5262"/>
                <a:gd name="T3" fmla="*/ 2453 h 5245"/>
                <a:gd name="T4" fmla="*/ 1611 w 5262"/>
                <a:gd name="T5" fmla="*/ 651 h 5245"/>
                <a:gd name="T6" fmla="*/ 2754 w 5262"/>
                <a:gd name="T7" fmla="*/ 926 h 5245"/>
                <a:gd name="T8" fmla="*/ 2285 w 5262"/>
                <a:gd name="T9" fmla="*/ 1331 h 5245"/>
                <a:gd name="T10" fmla="*/ 815 w 5262"/>
                <a:gd name="T11" fmla="*/ 2899 h 5245"/>
                <a:gd name="T12" fmla="*/ 1805 w 5262"/>
                <a:gd name="T13" fmla="*/ 4339 h 5245"/>
                <a:gd name="T14" fmla="*/ 2780 w 5262"/>
                <a:gd name="T15" fmla="*/ 4384 h 5245"/>
                <a:gd name="T16" fmla="*/ 4049 w 5262"/>
                <a:gd name="T17" fmla="*/ 2591 h 5245"/>
                <a:gd name="T18" fmla="*/ 4677 w 5262"/>
                <a:gd name="T19" fmla="*/ 2716 h 5245"/>
                <a:gd name="T20" fmla="*/ 4022 w 5262"/>
                <a:gd name="T21" fmla="*/ 4543 h 5245"/>
                <a:gd name="T22" fmla="*/ 2071 w 5262"/>
                <a:gd name="T23" fmla="*/ 5224 h 5245"/>
                <a:gd name="T24" fmla="*/ 1664 w 5262"/>
                <a:gd name="T25" fmla="*/ 2699 h 5245"/>
                <a:gd name="T26" fmla="*/ 2509 w 5262"/>
                <a:gd name="T27" fmla="*/ 2512 h 5245"/>
                <a:gd name="T28" fmla="*/ 2360 w 5262"/>
                <a:gd name="T29" fmla="*/ 2874 h 5245"/>
                <a:gd name="T30" fmla="*/ 4230 w 5262"/>
                <a:gd name="T31" fmla="*/ 1041 h 5245"/>
                <a:gd name="T32" fmla="*/ 5262 w 5262"/>
                <a:gd name="T33" fmla="*/ 1041 h 5245"/>
                <a:gd name="T34" fmla="*/ 4997 w 5262"/>
                <a:gd name="T35" fmla="*/ 1307 h 5245"/>
                <a:gd name="T36" fmla="*/ 4262 w 5262"/>
                <a:gd name="T37" fmla="*/ 1307 h 5245"/>
                <a:gd name="T38" fmla="*/ 4098 w 5262"/>
                <a:gd name="T39" fmla="*/ 1474 h 5245"/>
                <a:gd name="T40" fmla="*/ 4829 w 5262"/>
                <a:gd name="T41" fmla="*/ 1474 h 5245"/>
                <a:gd name="T42" fmla="*/ 4564 w 5262"/>
                <a:gd name="T43" fmla="*/ 1741 h 5245"/>
                <a:gd name="T44" fmla="*/ 3829 w 5262"/>
                <a:gd name="T45" fmla="*/ 1741 h 5245"/>
                <a:gd name="T46" fmla="*/ 3664 w 5262"/>
                <a:gd name="T47" fmla="*/ 1907 h 5245"/>
                <a:gd name="T48" fmla="*/ 4396 w 5262"/>
                <a:gd name="T49" fmla="*/ 1907 h 5245"/>
                <a:gd name="T50" fmla="*/ 4131 w 5262"/>
                <a:gd name="T51" fmla="*/ 2174 h 5245"/>
                <a:gd name="T52" fmla="*/ 3397 w 5262"/>
                <a:gd name="T53" fmla="*/ 2174 h 5245"/>
                <a:gd name="T54" fmla="*/ 3008 w 5262"/>
                <a:gd name="T55" fmla="*/ 2562 h 5245"/>
                <a:gd name="T56" fmla="*/ 3073 w 5262"/>
                <a:gd name="T57" fmla="*/ 2792 h 5245"/>
                <a:gd name="T58" fmla="*/ 3101 w 5262"/>
                <a:gd name="T59" fmla="*/ 1529 h 5245"/>
                <a:gd name="T60" fmla="*/ 3230 w 5262"/>
                <a:gd name="T61" fmla="*/ 1006 h 5245"/>
                <a:gd name="T62" fmla="*/ 3355 w 5262"/>
                <a:gd name="T63" fmla="*/ 1272 h 5245"/>
                <a:gd name="T64" fmla="*/ 3226 w 5262"/>
                <a:gd name="T65" fmla="*/ 1795 h 5245"/>
                <a:gd name="T66" fmla="*/ 3101 w 5262"/>
                <a:gd name="T67" fmla="*/ 1529 h 5245"/>
                <a:gd name="T68" fmla="*/ 3539 w 5262"/>
                <a:gd name="T69" fmla="*/ 699 h 5245"/>
                <a:gd name="T70" fmla="*/ 3787 w 5262"/>
                <a:gd name="T71" fmla="*/ 432 h 5245"/>
                <a:gd name="T72" fmla="*/ 3788 w 5262"/>
                <a:gd name="T73" fmla="*/ 1233 h 5245"/>
                <a:gd name="T74" fmla="*/ 3538 w 5262"/>
                <a:gd name="T75" fmla="*/ 1482 h 5245"/>
                <a:gd name="T76" fmla="*/ 3971 w 5262"/>
                <a:gd name="T77" fmla="*/ 648 h 5245"/>
                <a:gd name="T78" fmla="*/ 4096 w 5262"/>
                <a:gd name="T79" fmla="*/ 124 h 5245"/>
                <a:gd name="T80" fmla="*/ 4221 w 5262"/>
                <a:gd name="T81" fmla="*/ 400 h 5245"/>
                <a:gd name="T82" fmla="*/ 4096 w 5262"/>
                <a:gd name="T83" fmla="*/ 924 h 5245"/>
                <a:gd name="T84" fmla="*/ 3971 w 5262"/>
                <a:gd name="T85" fmla="*/ 648 h 5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62" h="5245">
                  <a:moveTo>
                    <a:pt x="2071" y="5224"/>
                  </a:moveTo>
                  <a:cubicBezTo>
                    <a:pt x="1532" y="5149"/>
                    <a:pt x="1074" y="4924"/>
                    <a:pt x="698" y="4548"/>
                  </a:cubicBezTo>
                  <a:cubicBezTo>
                    <a:pt x="365" y="4214"/>
                    <a:pt x="153" y="3823"/>
                    <a:pt x="52" y="3352"/>
                  </a:cubicBezTo>
                  <a:cubicBezTo>
                    <a:pt x="4" y="3128"/>
                    <a:pt x="0" y="2676"/>
                    <a:pt x="44" y="2453"/>
                  </a:cubicBezTo>
                  <a:cubicBezTo>
                    <a:pt x="140" y="1966"/>
                    <a:pt x="349" y="1576"/>
                    <a:pt x="703" y="1223"/>
                  </a:cubicBezTo>
                  <a:cubicBezTo>
                    <a:pt x="983" y="944"/>
                    <a:pt x="1267" y="766"/>
                    <a:pt x="1611" y="651"/>
                  </a:cubicBezTo>
                  <a:cubicBezTo>
                    <a:pt x="1944" y="540"/>
                    <a:pt x="2393" y="498"/>
                    <a:pt x="2527" y="564"/>
                  </a:cubicBezTo>
                  <a:cubicBezTo>
                    <a:pt x="2670" y="635"/>
                    <a:pt x="2754" y="769"/>
                    <a:pt x="2754" y="926"/>
                  </a:cubicBezTo>
                  <a:cubicBezTo>
                    <a:pt x="2755" y="1035"/>
                    <a:pt x="2725" y="1117"/>
                    <a:pt x="2655" y="1196"/>
                  </a:cubicBezTo>
                  <a:cubicBezTo>
                    <a:pt x="2582" y="1279"/>
                    <a:pt x="2475" y="1318"/>
                    <a:pt x="2285" y="1331"/>
                  </a:cubicBezTo>
                  <a:cubicBezTo>
                    <a:pt x="1578" y="1377"/>
                    <a:pt x="1016" y="1847"/>
                    <a:pt x="843" y="2535"/>
                  </a:cubicBezTo>
                  <a:cubicBezTo>
                    <a:pt x="822" y="2619"/>
                    <a:pt x="815" y="2716"/>
                    <a:pt x="815" y="2899"/>
                  </a:cubicBezTo>
                  <a:cubicBezTo>
                    <a:pt x="816" y="3122"/>
                    <a:pt x="821" y="3166"/>
                    <a:pt x="861" y="3299"/>
                  </a:cubicBezTo>
                  <a:cubicBezTo>
                    <a:pt x="1007" y="3784"/>
                    <a:pt x="1365" y="4178"/>
                    <a:pt x="1805" y="4339"/>
                  </a:cubicBezTo>
                  <a:cubicBezTo>
                    <a:pt x="2023" y="4418"/>
                    <a:pt x="2104" y="4432"/>
                    <a:pt x="2371" y="4431"/>
                  </a:cubicBezTo>
                  <a:cubicBezTo>
                    <a:pt x="2603" y="4430"/>
                    <a:pt x="2645" y="4425"/>
                    <a:pt x="2780" y="4384"/>
                  </a:cubicBezTo>
                  <a:cubicBezTo>
                    <a:pt x="3441" y="4184"/>
                    <a:pt x="3869" y="3647"/>
                    <a:pt x="3915" y="2957"/>
                  </a:cubicBezTo>
                  <a:cubicBezTo>
                    <a:pt x="3928" y="2771"/>
                    <a:pt x="3967" y="2663"/>
                    <a:pt x="4049" y="2591"/>
                  </a:cubicBezTo>
                  <a:cubicBezTo>
                    <a:pt x="4128" y="2522"/>
                    <a:pt x="4210" y="2491"/>
                    <a:pt x="4316" y="2491"/>
                  </a:cubicBezTo>
                  <a:cubicBezTo>
                    <a:pt x="4471" y="2491"/>
                    <a:pt x="4599" y="2570"/>
                    <a:pt x="4677" y="2716"/>
                  </a:cubicBezTo>
                  <a:cubicBezTo>
                    <a:pt x="4747" y="2845"/>
                    <a:pt x="4712" y="3263"/>
                    <a:pt x="4603" y="3603"/>
                  </a:cubicBezTo>
                  <a:cubicBezTo>
                    <a:pt x="4485" y="3971"/>
                    <a:pt x="4312" y="4251"/>
                    <a:pt x="4022" y="4543"/>
                  </a:cubicBezTo>
                  <a:cubicBezTo>
                    <a:pt x="3674" y="4894"/>
                    <a:pt x="3281" y="5106"/>
                    <a:pt x="2804" y="5199"/>
                  </a:cubicBezTo>
                  <a:cubicBezTo>
                    <a:pt x="2639" y="5231"/>
                    <a:pt x="2226" y="5245"/>
                    <a:pt x="2071" y="5224"/>
                  </a:cubicBezTo>
                  <a:close/>
                  <a:moveTo>
                    <a:pt x="2151" y="3575"/>
                  </a:moveTo>
                  <a:cubicBezTo>
                    <a:pt x="1774" y="3455"/>
                    <a:pt x="1565" y="3080"/>
                    <a:pt x="1664" y="2699"/>
                  </a:cubicBezTo>
                  <a:cubicBezTo>
                    <a:pt x="1770" y="2290"/>
                    <a:pt x="2216" y="2059"/>
                    <a:pt x="2611" y="2209"/>
                  </a:cubicBezTo>
                  <a:cubicBezTo>
                    <a:pt x="2764" y="2267"/>
                    <a:pt x="2770" y="2249"/>
                    <a:pt x="2509" y="2512"/>
                  </a:cubicBezTo>
                  <a:cubicBezTo>
                    <a:pt x="2378" y="2644"/>
                    <a:pt x="2271" y="2763"/>
                    <a:pt x="2271" y="2776"/>
                  </a:cubicBezTo>
                  <a:cubicBezTo>
                    <a:pt x="2271" y="2818"/>
                    <a:pt x="2322" y="2874"/>
                    <a:pt x="2360" y="2874"/>
                  </a:cubicBezTo>
                  <a:cubicBezTo>
                    <a:pt x="2385" y="2874"/>
                    <a:pt x="2664" y="2606"/>
                    <a:pt x="3313" y="1957"/>
                  </a:cubicBezTo>
                  <a:lnTo>
                    <a:pt x="4230" y="1041"/>
                  </a:lnTo>
                  <a:lnTo>
                    <a:pt x="4746" y="1041"/>
                  </a:lnTo>
                  <a:lnTo>
                    <a:pt x="5262" y="1041"/>
                  </a:lnTo>
                  <a:lnTo>
                    <a:pt x="5130" y="1174"/>
                  </a:lnTo>
                  <a:lnTo>
                    <a:pt x="4997" y="1307"/>
                  </a:lnTo>
                  <a:lnTo>
                    <a:pt x="4630" y="1307"/>
                  </a:lnTo>
                  <a:lnTo>
                    <a:pt x="4262" y="1307"/>
                  </a:lnTo>
                  <a:lnTo>
                    <a:pt x="4180" y="1391"/>
                  </a:lnTo>
                  <a:lnTo>
                    <a:pt x="4098" y="1474"/>
                  </a:lnTo>
                  <a:lnTo>
                    <a:pt x="4463" y="1474"/>
                  </a:lnTo>
                  <a:lnTo>
                    <a:pt x="4829" y="1474"/>
                  </a:lnTo>
                  <a:lnTo>
                    <a:pt x="4696" y="1607"/>
                  </a:lnTo>
                  <a:lnTo>
                    <a:pt x="4564" y="1741"/>
                  </a:lnTo>
                  <a:lnTo>
                    <a:pt x="4196" y="1741"/>
                  </a:lnTo>
                  <a:lnTo>
                    <a:pt x="3829" y="1741"/>
                  </a:lnTo>
                  <a:lnTo>
                    <a:pt x="3746" y="1824"/>
                  </a:lnTo>
                  <a:lnTo>
                    <a:pt x="3664" y="1907"/>
                  </a:lnTo>
                  <a:lnTo>
                    <a:pt x="4030" y="1907"/>
                  </a:lnTo>
                  <a:lnTo>
                    <a:pt x="4396" y="1907"/>
                  </a:lnTo>
                  <a:lnTo>
                    <a:pt x="4263" y="2041"/>
                  </a:lnTo>
                  <a:lnTo>
                    <a:pt x="4131" y="2174"/>
                  </a:lnTo>
                  <a:lnTo>
                    <a:pt x="3764" y="2174"/>
                  </a:lnTo>
                  <a:lnTo>
                    <a:pt x="3397" y="2174"/>
                  </a:lnTo>
                  <a:lnTo>
                    <a:pt x="3203" y="2368"/>
                  </a:lnTo>
                  <a:lnTo>
                    <a:pt x="3008" y="2562"/>
                  </a:lnTo>
                  <a:lnTo>
                    <a:pt x="3031" y="2617"/>
                  </a:lnTo>
                  <a:cubicBezTo>
                    <a:pt x="3044" y="2647"/>
                    <a:pt x="3062" y="2726"/>
                    <a:pt x="3073" y="2792"/>
                  </a:cubicBezTo>
                  <a:cubicBezTo>
                    <a:pt x="3152" y="3302"/>
                    <a:pt x="2645" y="3733"/>
                    <a:pt x="2151" y="3575"/>
                  </a:cubicBezTo>
                  <a:close/>
                  <a:moveTo>
                    <a:pt x="3101" y="1529"/>
                  </a:moveTo>
                  <a:lnTo>
                    <a:pt x="3106" y="1134"/>
                  </a:lnTo>
                  <a:lnTo>
                    <a:pt x="3230" y="1006"/>
                  </a:lnTo>
                  <a:lnTo>
                    <a:pt x="3355" y="878"/>
                  </a:lnTo>
                  <a:lnTo>
                    <a:pt x="3355" y="1272"/>
                  </a:lnTo>
                  <a:lnTo>
                    <a:pt x="3355" y="1667"/>
                  </a:lnTo>
                  <a:lnTo>
                    <a:pt x="3226" y="1795"/>
                  </a:lnTo>
                  <a:lnTo>
                    <a:pt x="3096" y="1923"/>
                  </a:lnTo>
                  <a:lnTo>
                    <a:pt x="3101" y="1529"/>
                  </a:lnTo>
                  <a:close/>
                  <a:moveTo>
                    <a:pt x="3539" y="1090"/>
                  </a:moveTo>
                  <a:lnTo>
                    <a:pt x="3539" y="699"/>
                  </a:lnTo>
                  <a:lnTo>
                    <a:pt x="3663" y="566"/>
                  </a:lnTo>
                  <a:lnTo>
                    <a:pt x="3787" y="432"/>
                  </a:lnTo>
                  <a:lnTo>
                    <a:pt x="3788" y="833"/>
                  </a:lnTo>
                  <a:lnTo>
                    <a:pt x="3788" y="1233"/>
                  </a:lnTo>
                  <a:lnTo>
                    <a:pt x="3663" y="1357"/>
                  </a:lnTo>
                  <a:lnTo>
                    <a:pt x="3538" y="1482"/>
                  </a:lnTo>
                  <a:lnTo>
                    <a:pt x="3539" y="1090"/>
                  </a:lnTo>
                  <a:close/>
                  <a:moveTo>
                    <a:pt x="3971" y="648"/>
                  </a:moveTo>
                  <a:lnTo>
                    <a:pt x="3971" y="248"/>
                  </a:lnTo>
                  <a:lnTo>
                    <a:pt x="4096" y="124"/>
                  </a:lnTo>
                  <a:lnTo>
                    <a:pt x="4221" y="0"/>
                  </a:lnTo>
                  <a:lnTo>
                    <a:pt x="4221" y="400"/>
                  </a:lnTo>
                  <a:lnTo>
                    <a:pt x="4221" y="800"/>
                  </a:lnTo>
                  <a:lnTo>
                    <a:pt x="4096" y="924"/>
                  </a:lnTo>
                  <a:lnTo>
                    <a:pt x="3971" y="1048"/>
                  </a:lnTo>
                  <a:lnTo>
                    <a:pt x="3971" y="648"/>
                  </a:lnTo>
                  <a:close/>
                </a:path>
              </a:pathLst>
            </a:custGeom>
            <a:solidFill>
              <a:schemeClr val="tx2"/>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p>
          </p:txBody>
        </p:sp>
        <p:sp>
          <p:nvSpPr>
            <p:cNvPr id="72" name="Freeform 52">
              <a:extLst>
                <a:ext uri="{FF2B5EF4-FFF2-40B4-BE49-F238E27FC236}">
                  <a16:creationId xmlns:a16="http://schemas.microsoft.com/office/drawing/2014/main" id="{9C5AC6F5-66F3-47DB-ADED-F0D1BD249613}"/>
                </a:ext>
              </a:extLst>
            </p:cNvPr>
            <p:cNvSpPr>
              <a:spLocks noEditPoints="1"/>
            </p:cNvSpPr>
            <p:nvPr/>
          </p:nvSpPr>
          <p:spPr bwMode="auto">
            <a:xfrm>
              <a:off x="2163248" y="782928"/>
              <a:ext cx="161930" cy="252796"/>
            </a:xfrm>
            <a:custGeom>
              <a:avLst/>
              <a:gdLst>
                <a:gd name="T0" fmla="*/ 2499 w 4118"/>
                <a:gd name="T1" fmla="*/ 3970 h 5847"/>
                <a:gd name="T2" fmla="*/ 4081 w 4118"/>
                <a:gd name="T3" fmla="*/ 5035 h 5847"/>
                <a:gd name="T4" fmla="*/ 3766 w 4118"/>
                <a:gd name="T5" fmla="*/ 4315 h 5847"/>
                <a:gd name="T6" fmla="*/ 2774 w 4118"/>
                <a:gd name="T7" fmla="*/ 5075 h 5847"/>
                <a:gd name="T8" fmla="*/ 2343 w 4118"/>
                <a:gd name="T9" fmla="*/ 4868 h 5847"/>
                <a:gd name="T10" fmla="*/ 1140 w 4118"/>
                <a:gd name="T11" fmla="*/ 5479 h 5847"/>
                <a:gd name="T12" fmla="*/ 7 w 4118"/>
                <a:gd name="T13" fmla="*/ 1037 h 5847"/>
                <a:gd name="T14" fmla="*/ 649 w 4118"/>
                <a:gd name="T15" fmla="*/ 755 h 5847"/>
                <a:gd name="T16" fmla="*/ 892 w 4118"/>
                <a:gd name="T17" fmla="*/ 1012 h 5847"/>
                <a:gd name="T18" fmla="*/ 257 w 4118"/>
                <a:gd name="T19" fmla="*/ 3126 h 5847"/>
                <a:gd name="T20" fmla="*/ 339 w 4118"/>
                <a:gd name="T21" fmla="*/ 5246 h 5847"/>
                <a:gd name="T22" fmla="*/ 1950 w 4118"/>
                <a:gd name="T23" fmla="*/ 5333 h 5847"/>
                <a:gd name="T24" fmla="*/ 1140 w 4118"/>
                <a:gd name="T25" fmla="*/ 5479 h 5847"/>
                <a:gd name="T26" fmla="*/ 831 w 4118"/>
                <a:gd name="T27" fmla="*/ 4204 h 5847"/>
                <a:gd name="T28" fmla="*/ 748 w 4118"/>
                <a:gd name="T29" fmla="*/ 4813 h 5847"/>
                <a:gd name="T30" fmla="*/ 640 w 4118"/>
                <a:gd name="T31" fmla="*/ 4503 h 5847"/>
                <a:gd name="T32" fmla="*/ 1469 w 4118"/>
                <a:gd name="T33" fmla="*/ 4617 h 5847"/>
                <a:gd name="T34" fmla="*/ 1871 w 4118"/>
                <a:gd name="T35" fmla="*/ 4535 h 5847"/>
                <a:gd name="T36" fmla="*/ 1469 w 4118"/>
                <a:gd name="T37" fmla="*/ 4617 h 5847"/>
                <a:gd name="T38" fmla="*/ 711 w 4118"/>
                <a:gd name="T39" fmla="*/ 3355 h 5847"/>
                <a:gd name="T40" fmla="*/ 914 w 4118"/>
                <a:gd name="T41" fmla="*/ 3820 h 5847"/>
                <a:gd name="T42" fmla="*/ 744 w 4118"/>
                <a:gd name="T43" fmla="*/ 3818 h 5847"/>
                <a:gd name="T44" fmla="*/ 1405 w 4118"/>
                <a:gd name="T45" fmla="*/ 3610 h 5847"/>
                <a:gd name="T46" fmla="*/ 2774 w 4118"/>
                <a:gd name="T47" fmla="*/ 3529 h 5847"/>
                <a:gd name="T48" fmla="*/ 2387 w 4118"/>
                <a:gd name="T49" fmla="*/ 3751 h 5847"/>
                <a:gd name="T50" fmla="*/ 3582 w 4118"/>
                <a:gd name="T51" fmla="*/ 3626 h 5847"/>
                <a:gd name="T52" fmla="*/ 3424 w 4118"/>
                <a:gd name="T53" fmla="*/ 2321 h 5847"/>
                <a:gd name="T54" fmla="*/ 2807 w 4118"/>
                <a:gd name="T55" fmla="*/ 1012 h 5847"/>
                <a:gd name="T56" fmla="*/ 3131 w 4118"/>
                <a:gd name="T57" fmla="*/ 757 h 5847"/>
                <a:gd name="T58" fmla="*/ 3665 w 4118"/>
                <a:gd name="T59" fmla="*/ 3660 h 5847"/>
                <a:gd name="T60" fmla="*/ 657 w 4118"/>
                <a:gd name="T61" fmla="*/ 3036 h 5847"/>
                <a:gd name="T62" fmla="*/ 1007 w 4118"/>
                <a:gd name="T63" fmla="*/ 3036 h 5847"/>
                <a:gd name="T64" fmla="*/ 924 w 4118"/>
                <a:gd name="T65" fmla="*/ 2604 h 5847"/>
                <a:gd name="T66" fmla="*/ 942 w 4118"/>
                <a:gd name="T67" fmla="*/ 2941 h 5847"/>
                <a:gd name="T68" fmla="*/ 2275 w 4118"/>
                <a:gd name="T69" fmla="*/ 2662 h 5847"/>
                <a:gd name="T70" fmla="*/ 2271 w 4118"/>
                <a:gd name="T71" fmla="*/ 2896 h 5847"/>
                <a:gd name="T72" fmla="*/ 524 w 4118"/>
                <a:gd name="T73" fmla="*/ 1914 h 5847"/>
                <a:gd name="T74" fmla="*/ 742 w 4118"/>
                <a:gd name="T75" fmla="*/ 2210 h 5847"/>
                <a:gd name="T76" fmla="*/ 640 w 4118"/>
                <a:gd name="T77" fmla="*/ 1895 h 5847"/>
                <a:gd name="T78" fmla="*/ 1439 w 4118"/>
                <a:gd name="T79" fmla="*/ 1998 h 5847"/>
                <a:gd name="T80" fmla="*/ 3113 w 4118"/>
                <a:gd name="T81" fmla="*/ 1826 h 5847"/>
                <a:gd name="T82" fmla="*/ 1439 w 4118"/>
                <a:gd name="T83" fmla="*/ 1998 h 5847"/>
                <a:gd name="T84" fmla="*/ 1100 w 4118"/>
                <a:gd name="T85" fmla="*/ 701 h 5847"/>
                <a:gd name="T86" fmla="*/ 1518 w 4118"/>
                <a:gd name="T87" fmla="*/ 596 h 5847"/>
                <a:gd name="T88" fmla="*/ 1562 w 4118"/>
                <a:gd name="T89" fmla="*/ 40 h 5847"/>
                <a:gd name="T90" fmla="*/ 2286 w 4118"/>
                <a:gd name="T91" fmla="*/ 403 h 5847"/>
                <a:gd name="T92" fmla="*/ 2313 w 4118"/>
                <a:gd name="T93" fmla="*/ 682 h 5847"/>
                <a:gd name="T94" fmla="*/ 2603 w 4118"/>
                <a:gd name="T95" fmla="*/ 941 h 5847"/>
                <a:gd name="T96" fmla="*/ 1085 w 4118"/>
                <a:gd name="T97" fmla="*/ 1185 h 5847"/>
                <a:gd name="T98" fmla="*/ 2099 w 4118"/>
                <a:gd name="T99" fmla="*/ 301 h 5847"/>
                <a:gd name="T100" fmla="*/ 1624 w 4118"/>
                <a:gd name="T101" fmla="*/ 245 h 5847"/>
                <a:gd name="T102" fmla="*/ 1824 w 4118"/>
                <a:gd name="T103" fmla="*/ 401 h 5847"/>
                <a:gd name="T104" fmla="*/ 2064 w 4118"/>
                <a:gd name="T105" fmla="*/ 682 h 5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118" h="5847">
                  <a:moveTo>
                    <a:pt x="2974" y="5779"/>
                  </a:moveTo>
                  <a:cubicBezTo>
                    <a:pt x="2677" y="5738"/>
                    <a:pt x="2422" y="5582"/>
                    <a:pt x="2265" y="5345"/>
                  </a:cubicBezTo>
                  <a:cubicBezTo>
                    <a:pt x="1963" y="4890"/>
                    <a:pt x="2067" y="4278"/>
                    <a:pt x="2499" y="3970"/>
                  </a:cubicBezTo>
                  <a:cubicBezTo>
                    <a:pt x="2765" y="3780"/>
                    <a:pt x="3110" y="3721"/>
                    <a:pt x="3407" y="3815"/>
                  </a:cubicBezTo>
                  <a:cubicBezTo>
                    <a:pt x="3718" y="3913"/>
                    <a:pt x="3983" y="4188"/>
                    <a:pt x="4075" y="4509"/>
                  </a:cubicBezTo>
                  <a:cubicBezTo>
                    <a:pt x="4115" y="4649"/>
                    <a:pt x="4118" y="4891"/>
                    <a:pt x="4081" y="5035"/>
                  </a:cubicBezTo>
                  <a:cubicBezTo>
                    <a:pt x="3957" y="5515"/>
                    <a:pt x="3462" y="5847"/>
                    <a:pt x="2974" y="5779"/>
                  </a:cubicBezTo>
                  <a:close/>
                  <a:moveTo>
                    <a:pt x="3280" y="4840"/>
                  </a:moveTo>
                  <a:cubicBezTo>
                    <a:pt x="3713" y="4416"/>
                    <a:pt x="3776" y="4347"/>
                    <a:pt x="3766" y="4315"/>
                  </a:cubicBezTo>
                  <a:cubicBezTo>
                    <a:pt x="3751" y="4266"/>
                    <a:pt x="3683" y="4222"/>
                    <a:pt x="3651" y="4240"/>
                  </a:cubicBezTo>
                  <a:cubicBezTo>
                    <a:pt x="3638" y="4248"/>
                    <a:pt x="3438" y="4438"/>
                    <a:pt x="3207" y="4662"/>
                  </a:cubicBezTo>
                  <a:cubicBezTo>
                    <a:pt x="2976" y="4887"/>
                    <a:pt x="2781" y="5073"/>
                    <a:pt x="2774" y="5075"/>
                  </a:cubicBezTo>
                  <a:cubicBezTo>
                    <a:pt x="2768" y="5078"/>
                    <a:pt x="2696" y="5009"/>
                    <a:pt x="2616" y="4921"/>
                  </a:cubicBezTo>
                  <a:cubicBezTo>
                    <a:pt x="2536" y="4834"/>
                    <a:pt x="2457" y="4762"/>
                    <a:pt x="2442" y="4762"/>
                  </a:cubicBezTo>
                  <a:cubicBezTo>
                    <a:pt x="2404" y="4762"/>
                    <a:pt x="2336" y="4835"/>
                    <a:pt x="2343" y="4868"/>
                  </a:cubicBezTo>
                  <a:cubicBezTo>
                    <a:pt x="2349" y="4895"/>
                    <a:pt x="2753" y="5329"/>
                    <a:pt x="2771" y="5328"/>
                  </a:cubicBezTo>
                  <a:cubicBezTo>
                    <a:pt x="2777" y="5328"/>
                    <a:pt x="3006" y="5108"/>
                    <a:pt x="3280" y="4840"/>
                  </a:cubicBezTo>
                  <a:close/>
                  <a:moveTo>
                    <a:pt x="1140" y="5479"/>
                  </a:moveTo>
                  <a:cubicBezTo>
                    <a:pt x="174" y="5470"/>
                    <a:pt x="223" y="5476"/>
                    <a:pt x="112" y="5360"/>
                  </a:cubicBezTo>
                  <a:cubicBezTo>
                    <a:pt x="0" y="5243"/>
                    <a:pt x="7" y="5395"/>
                    <a:pt x="7" y="3109"/>
                  </a:cubicBezTo>
                  <a:lnTo>
                    <a:pt x="7" y="1037"/>
                  </a:lnTo>
                  <a:lnTo>
                    <a:pt x="57" y="950"/>
                  </a:lnTo>
                  <a:cubicBezTo>
                    <a:pt x="118" y="844"/>
                    <a:pt x="210" y="781"/>
                    <a:pt x="329" y="765"/>
                  </a:cubicBezTo>
                  <a:cubicBezTo>
                    <a:pt x="377" y="758"/>
                    <a:pt x="520" y="754"/>
                    <a:pt x="649" y="755"/>
                  </a:cubicBezTo>
                  <a:lnTo>
                    <a:pt x="882" y="758"/>
                  </a:lnTo>
                  <a:lnTo>
                    <a:pt x="887" y="885"/>
                  </a:lnTo>
                  <a:lnTo>
                    <a:pt x="892" y="1012"/>
                  </a:lnTo>
                  <a:lnTo>
                    <a:pt x="623" y="1012"/>
                  </a:lnTo>
                  <a:cubicBezTo>
                    <a:pt x="363" y="1012"/>
                    <a:pt x="301" y="1022"/>
                    <a:pt x="270" y="1069"/>
                  </a:cubicBezTo>
                  <a:cubicBezTo>
                    <a:pt x="263" y="1079"/>
                    <a:pt x="257" y="2005"/>
                    <a:pt x="257" y="3126"/>
                  </a:cubicBezTo>
                  <a:lnTo>
                    <a:pt x="257" y="5164"/>
                  </a:lnTo>
                  <a:lnTo>
                    <a:pt x="298" y="5205"/>
                  </a:lnTo>
                  <a:lnTo>
                    <a:pt x="339" y="5246"/>
                  </a:lnTo>
                  <a:lnTo>
                    <a:pt x="1123" y="5246"/>
                  </a:lnTo>
                  <a:lnTo>
                    <a:pt x="1906" y="5246"/>
                  </a:lnTo>
                  <a:lnTo>
                    <a:pt x="1950" y="5333"/>
                  </a:lnTo>
                  <a:cubicBezTo>
                    <a:pt x="1974" y="5381"/>
                    <a:pt x="2005" y="5433"/>
                    <a:pt x="2018" y="5448"/>
                  </a:cubicBezTo>
                  <a:cubicBezTo>
                    <a:pt x="2032" y="5463"/>
                    <a:pt x="2036" y="5478"/>
                    <a:pt x="2029" y="5481"/>
                  </a:cubicBezTo>
                  <a:cubicBezTo>
                    <a:pt x="2021" y="5485"/>
                    <a:pt x="1622" y="5484"/>
                    <a:pt x="1140" y="5479"/>
                  </a:cubicBezTo>
                  <a:close/>
                  <a:moveTo>
                    <a:pt x="748" y="4813"/>
                  </a:moveTo>
                  <a:cubicBezTo>
                    <a:pt x="561" y="4769"/>
                    <a:pt x="465" y="4543"/>
                    <a:pt x="556" y="4364"/>
                  </a:cubicBezTo>
                  <a:cubicBezTo>
                    <a:pt x="609" y="4260"/>
                    <a:pt x="706" y="4204"/>
                    <a:pt x="831" y="4204"/>
                  </a:cubicBezTo>
                  <a:cubicBezTo>
                    <a:pt x="956" y="4204"/>
                    <a:pt x="1039" y="4250"/>
                    <a:pt x="1099" y="4353"/>
                  </a:cubicBezTo>
                  <a:cubicBezTo>
                    <a:pt x="1203" y="4531"/>
                    <a:pt x="1113" y="4755"/>
                    <a:pt x="915" y="4810"/>
                  </a:cubicBezTo>
                  <a:cubicBezTo>
                    <a:pt x="842" y="4831"/>
                    <a:pt x="822" y="4831"/>
                    <a:pt x="748" y="4813"/>
                  </a:cubicBezTo>
                  <a:close/>
                  <a:moveTo>
                    <a:pt x="918" y="4685"/>
                  </a:moveTo>
                  <a:cubicBezTo>
                    <a:pt x="1070" y="4613"/>
                    <a:pt x="1054" y="4376"/>
                    <a:pt x="893" y="4328"/>
                  </a:cubicBezTo>
                  <a:cubicBezTo>
                    <a:pt x="764" y="4289"/>
                    <a:pt x="640" y="4374"/>
                    <a:pt x="640" y="4503"/>
                  </a:cubicBezTo>
                  <a:cubicBezTo>
                    <a:pt x="640" y="4586"/>
                    <a:pt x="678" y="4652"/>
                    <a:pt x="744" y="4684"/>
                  </a:cubicBezTo>
                  <a:cubicBezTo>
                    <a:pt x="813" y="4719"/>
                    <a:pt x="846" y="4719"/>
                    <a:pt x="918" y="4685"/>
                  </a:cubicBezTo>
                  <a:close/>
                  <a:moveTo>
                    <a:pt x="1469" y="4617"/>
                  </a:moveTo>
                  <a:cubicBezTo>
                    <a:pt x="1431" y="4607"/>
                    <a:pt x="1388" y="4523"/>
                    <a:pt x="1401" y="4484"/>
                  </a:cubicBezTo>
                  <a:cubicBezTo>
                    <a:pt x="1431" y="4402"/>
                    <a:pt x="1450" y="4396"/>
                    <a:pt x="1676" y="4396"/>
                  </a:cubicBezTo>
                  <a:cubicBezTo>
                    <a:pt x="1916" y="4396"/>
                    <a:pt x="1901" y="4385"/>
                    <a:pt x="1871" y="4535"/>
                  </a:cubicBezTo>
                  <a:lnTo>
                    <a:pt x="1852" y="4629"/>
                  </a:lnTo>
                  <a:lnTo>
                    <a:pt x="1676" y="4627"/>
                  </a:lnTo>
                  <a:cubicBezTo>
                    <a:pt x="1578" y="4626"/>
                    <a:pt x="1485" y="4622"/>
                    <a:pt x="1469" y="4617"/>
                  </a:cubicBezTo>
                  <a:close/>
                  <a:moveTo>
                    <a:pt x="732" y="3940"/>
                  </a:moveTo>
                  <a:cubicBezTo>
                    <a:pt x="547" y="3868"/>
                    <a:pt x="467" y="3672"/>
                    <a:pt x="553" y="3503"/>
                  </a:cubicBezTo>
                  <a:cubicBezTo>
                    <a:pt x="594" y="3423"/>
                    <a:pt x="631" y="3388"/>
                    <a:pt x="711" y="3355"/>
                  </a:cubicBezTo>
                  <a:cubicBezTo>
                    <a:pt x="917" y="3269"/>
                    <a:pt x="1140" y="3420"/>
                    <a:pt x="1140" y="3645"/>
                  </a:cubicBezTo>
                  <a:cubicBezTo>
                    <a:pt x="1140" y="3864"/>
                    <a:pt x="928" y="4017"/>
                    <a:pt x="732" y="3940"/>
                  </a:cubicBezTo>
                  <a:close/>
                  <a:moveTo>
                    <a:pt x="914" y="3820"/>
                  </a:moveTo>
                  <a:cubicBezTo>
                    <a:pt x="1057" y="3752"/>
                    <a:pt x="1060" y="3540"/>
                    <a:pt x="918" y="3473"/>
                  </a:cubicBezTo>
                  <a:cubicBezTo>
                    <a:pt x="847" y="3440"/>
                    <a:pt x="822" y="3439"/>
                    <a:pt x="749" y="3469"/>
                  </a:cubicBezTo>
                  <a:cubicBezTo>
                    <a:pt x="608" y="3528"/>
                    <a:pt x="604" y="3749"/>
                    <a:pt x="744" y="3818"/>
                  </a:cubicBezTo>
                  <a:cubicBezTo>
                    <a:pt x="813" y="3852"/>
                    <a:pt x="846" y="3852"/>
                    <a:pt x="914" y="3820"/>
                  </a:cubicBezTo>
                  <a:close/>
                  <a:moveTo>
                    <a:pt x="1474" y="3742"/>
                  </a:moveTo>
                  <a:cubicBezTo>
                    <a:pt x="1422" y="3723"/>
                    <a:pt x="1387" y="3656"/>
                    <a:pt x="1405" y="3610"/>
                  </a:cubicBezTo>
                  <a:cubicBezTo>
                    <a:pt x="1413" y="3587"/>
                    <a:pt x="1431" y="3561"/>
                    <a:pt x="1444" y="3550"/>
                  </a:cubicBezTo>
                  <a:cubicBezTo>
                    <a:pt x="1460" y="3536"/>
                    <a:pt x="1654" y="3529"/>
                    <a:pt x="2120" y="3526"/>
                  </a:cubicBezTo>
                  <a:cubicBezTo>
                    <a:pt x="2480" y="3523"/>
                    <a:pt x="2774" y="3525"/>
                    <a:pt x="2774" y="3529"/>
                  </a:cubicBezTo>
                  <a:cubicBezTo>
                    <a:pt x="2774" y="3534"/>
                    <a:pt x="2723" y="3562"/>
                    <a:pt x="2661" y="3591"/>
                  </a:cubicBezTo>
                  <a:cubicBezTo>
                    <a:pt x="2599" y="3619"/>
                    <a:pt x="2512" y="3668"/>
                    <a:pt x="2468" y="3697"/>
                  </a:cubicBezTo>
                  <a:lnTo>
                    <a:pt x="2387" y="3751"/>
                  </a:lnTo>
                  <a:lnTo>
                    <a:pt x="1946" y="3753"/>
                  </a:lnTo>
                  <a:cubicBezTo>
                    <a:pt x="1703" y="3753"/>
                    <a:pt x="1491" y="3749"/>
                    <a:pt x="1474" y="3742"/>
                  </a:cubicBezTo>
                  <a:close/>
                  <a:moveTo>
                    <a:pt x="3582" y="3626"/>
                  </a:moveTo>
                  <a:cubicBezTo>
                    <a:pt x="3536" y="3608"/>
                    <a:pt x="3482" y="3586"/>
                    <a:pt x="3461" y="3578"/>
                  </a:cubicBezTo>
                  <a:lnTo>
                    <a:pt x="3424" y="3563"/>
                  </a:lnTo>
                  <a:lnTo>
                    <a:pt x="3424" y="2321"/>
                  </a:lnTo>
                  <a:cubicBezTo>
                    <a:pt x="3424" y="1101"/>
                    <a:pt x="3423" y="1078"/>
                    <a:pt x="3390" y="1046"/>
                  </a:cubicBezTo>
                  <a:cubicBezTo>
                    <a:pt x="3360" y="1015"/>
                    <a:pt x="3335" y="1012"/>
                    <a:pt x="3082" y="1012"/>
                  </a:cubicBezTo>
                  <a:lnTo>
                    <a:pt x="2807" y="1012"/>
                  </a:lnTo>
                  <a:lnTo>
                    <a:pt x="2807" y="889"/>
                  </a:lnTo>
                  <a:cubicBezTo>
                    <a:pt x="2807" y="806"/>
                    <a:pt x="2814" y="764"/>
                    <a:pt x="2828" y="759"/>
                  </a:cubicBezTo>
                  <a:cubicBezTo>
                    <a:pt x="2839" y="755"/>
                    <a:pt x="2976" y="754"/>
                    <a:pt x="3131" y="757"/>
                  </a:cubicBezTo>
                  <a:cubicBezTo>
                    <a:pt x="3448" y="763"/>
                    <a:pt x="3517" y="782"/>
                    <a:pt x="3596" y="885"/>
                  </a:cubicBezTo>
                  <a:cubicBezTo>
                    <a:pt x="3675" y="989"/>
                    <a:pt x="3675" y="991"/>
                    <a:pt x="3670" y="2365"/>
                  </a:cubicBezTo>
                  <a:lnTo>
                    <a:pt x="3665" y="3660"/>
                  </a:lnTo>
                  <a:lnTo>
                    <a:pt x="3582" y="3626"/>
                  </a:lnTo>
                  <a:close/>
                  <a:moveTo>
                    <a:pt x="759" y="3084"/>
                  </a:moveTo>
                  <a:cubicBezTo>
                    <a:pt x="736" y="3080"/>
                    <a:pt x="691" y="3058"/>
                    <a:pt x="657" y="3036"/>
                  </a:cubicBezTo>
                  <a:cubicBezTo>
                    <a:pt x="477" y="2916"/>
                    <a:pt x="478" y="2637"/>
                    <a:pt x="660" y="2516"/>
                  </a:cubicBezTo>
                  <a:cubicBezTo>
                    <a:pt x="759" y="2451"/>
                    <a:pt x="905" y="2451"/>
                    <a:pt x="1004" y="2517"/>
                  </a:cubicBezTo>
                  <a:cubicBezTo>
                    <a:pt x="1186" y="2637"/>
                    <a:pt x="1187" y="2916"/>
                    <a:pt x="1007" y="3036"/>
                  </a:cubicBezTo>
                  <a:cubicBezTo>
                    <a:pt x="944" y="3077"/>
                    <a:pt x="831" y="3099"/>
                    <a:pt x="759" y="3084"/>
                  </a:cubicBezTo>
                  <a:close/>
                  <a:moveTo>
                    <a:pt x="942" y="2941"/>
                  </a:moveTo>
                  <a:cubicBezTo>
                    <a:pt x="1056" y="2870"/>
                    <a:pt x="1045" y="2667"/>
                    <a:pt x="924" y="2604"/>
                  </a:cubicBezTo>
                  <a:cubicBezTo>
                    <a:pt x="792" y="2536"/>
                    <a:pt x="640" y="2625"/>
                    <a:pt x="640" y="2771"/>
                  </a:cubicBezTo>
                  <a:cubicBezTo>
                    <a:pt x="640" y="2873"/>
                    <a:pt x="686" y="2933"/>
                    <a:pt x="790" y="2968"/>
                  </a:cubicBezTo>
                  <a:cubicBezTo>
                    <a:pt x="822" y="2979"/>
                    <a:pt x="905" y="2964"/>
                    <a:pt x="942" y="2941"/>
                  </a:cubicBezTo>
                  <a:close/>
                  <a:moveTo>
                    <a:pt x="1432" y="2862"/>
                  </a:moveTo>
                  <a:cubicBezTo>
                    <a:pt x="1389" y="2815"/>
                    <a:pt x="1393" y="2731"/>
                    <a:pt x="1439" y="2693"/>
                  </a:cubicBezTo>
                  <a:cubicBezTo>
                    <a:pt x="1475" y="2664"/>
                    <a:pt x="1525" y="2662"/>
                    <a:pt x="2275" y="2662"/>
                  </a:cubicBezTo>
                  <a:cubicBezTo>
                    <a:pt x="3051" y="2662"/>
                    <a:pt x="3075" y="2663"/>
                    <a:pt x="3107" y="2696"/>
                  </a:cubicBezTo>
                  <a:cubicBezTo>
                    <a:pt x="3150" y="2738"/>
                    <a:pt x="3151" y="2831"/>
                    <a:pt x="3110" y="2868"/>
                  </a:cubicBezTo>
                  <a:cubicBezTo>
                    <a:pt x="3082" y="2893"/>
                    <a:pt x="3000" y="2896"/>
                    <a:pt x="2271" y="2896"/>
                  </a:cubicBezTo>
                  <a:cubicBezTo>
                    <a:pt x="1482" y="2896"/>
                    <a:pt x="1461" y="2895"/>
                    <a:pt x="1432" y="2862"/>
                  </a:cubicBezTo>
                  <a:close/>
                  <a:moveTo>
                    <a:pt x="742" y="2210"/>
                  </a:moveTo>
                  <a:cubicBezTo>
                    <a:pt x="606" y="2170"/>
                    <a:pt x="524" y="2058"/>
                    <a:pt x="524" y="1914"/>
                  </a:cubicBezTo>
                  <a:cubicBezTo>
                    <a:pt x="524" y="1716"/>
                    <a:pt x="675" y="1578"/>
                    <a:pt x="868" y="1600"/>
                  </a:cubicBezTo>
                  <a:cubicBezTo>
                    <a:pt x="1088" y="1625"/>
                    <a:pt x="1213" y="1877"/>
                    <a:pt x="1100" y="2069"/>
                  </a:cubicBezTo>
                  <a:cubicBezTo>
                    <a:pt x="1032" y="2185"/>
                    <a:pt x="870" y="2249"/>
                    <a:pt x="742" y="2210"/>
                  </a:cubicBezTo>
                  <a:close/>
                  <a:moveTo>
                    <a:pt x="906" y="2088"/>
                  </a:moveTo>
                  <a:cubicBezTo>
                    <a:pt x="1019" y="2030"/>
                    <a:pt x="1056" y="1907"/>
                    <a:pt x="992" y="1803"/>
                  </a:cubicBezTo>
                  <a:cubicBezTo>
                    <a:pt x="898" y="1648"/>
                    <a:pt x="640" y="1716"/>
                    <a:pt x="640" y="1895"/>
                  </a:cubicBezTo>
                  <a:cubicBezTo>
                    <a:pt x="640" y="1986"/>
                    <a:pt x="676" y="2051"/>
                    <a:pt x="744" y="2084"/>
                  </a:cubicBezTo>
                  <a:cubicBezTo>
                    <a:pt x="812" y="2118"/>
                    <a:pt x="846" y="2119"/>
                    <a:pt x="906" y="2088"/>
                  </a:cubicBezTo>
                  <a:close/>
                  <a:moveTo>
                    <a:pt x="1439" y="1998"/>
                  </a:moveTo>
                  <a:cubicBezTo>
                    <a:pt x="1393" y="1960"/>
                    <a:pt x="1389" y="1877"/>
                    <a:pt x="1432" y="1829"/>
                  </a:cubicBezTo>
                  <a:cubicBezTo>
                    <a:pt x="1461" y="1796"/>
                    <a:pt x="1482" y="1796"/>
                    <a:pt x="2274" y="1796"/>
                  </a:cubicBezTo>
                  <a:cubicBezTo>
                    <a:pt x="3039" y="1796"/>
                    <a:pt x="3087" y="1797"/>
                    <a:pt x="3113" y="1826"/>
                  </a:cubicBezTo>
                  <a:cubicBezTo>
                    <a:pt x="3151" y="1868"/>
                    <a:pt x="3148" y="1955"/>
                    <a:pt x="3107" y="1996"/>
                  </a:cubicBezTo>
                  <a:cubicBezTo>
                    <a:pt x="3075" y="2028"/>
                    <a:pt x="3051" y="2029"/>
                    <a:pt x="2275" y="2029"/>
                  </a:cubicBezTo>
                  <a:cubicBezTo>
                    <a:pt x="1525" y="2029"/>
                    <a:pt x="1475" y="2027"/>
                    <a:pt x="1439" y="1998"/>
                  </a:cubicBezTo>
                  <a:close/>
                  <a:moveTo>
                    <a:pt x="1085" y="1185"/>
                  </a:moveTo>
                  <a:cubicBezTo>
                    <a:pt x="1079" y="1179"/>
                    <a:pt x="1074" y="1069"/>
                    <a:pt x="1074" y="942"/>
                  </a:cubicBezTo>
                  <a:cubicBezTo>
                    <a:pt x="1074" y="747"/>
                    <a:pt x="1078" y="710"/>
                    <a:pt x="1100" y="701"/>
                  </a:cubicBezTo>
                  <a:cubicBezTo>
                    <a:pt x="1115" y="696"/>
                    <a:pt x="1202" y="690"/>
                    <a:pt x="1295" y="689"/>
                  </a:cubicBezTo>
                  <a:lnTo>
                    <a:pt x="1463" y="687"/>
                  </a:lnTo>
                  <a:lnTo>
                    <a:pt x="1518" y="596"/>
                  </a:lnTo>
                  <a:cubicBezTo>
                    <a:pt x="1548" y="545"/>
                    <a:pt x="1573" y="496"/>
                    <a:pt x="1573" y="487"/>
                  </a:cubicBezTo>
                  <a:cubicBezTo>
                    <a:pt x="1573" y="478"/>
                    <a:pt x="1551" y="458"/>
                    <a:pt x="1523" y="442"/>
                  </a:cubicBezTo>
                  <a:cubicBezTo>
                    <a:pt x="1384" y="363"/>
                    <a:pt x="1409" y="113"/>
                    <a:pt x="1562" y="40"/>
                  </a:cubicBezTo>
                  <a:cubicBezTo>
                    <a:pt x="1644" y="1"/>
                    <a:pt x="2133" y="0"/>
                    <a:pt x="2214" y="38"/>
                  </a:cubicBezTo>
                  <a:cubicBezTo>
                    <a:pt x="2287" y="72"/>
                    <a:pt x="2340" y="171"/>
                    <a:pt x="2340" y="270"/>
                  </a:cubicBezTo>
                  <a:cubicBezTo>
                    <a:pt x="2340" y="337"/>
                    <a:pt x="2332" y="357"/>
                    <a:pt x="2286" y="403"/>
                  </a:cubicBezTo>
                  <a:cubicBezTo>
                    <a:pt x="2256" y="433"/>
                    <a:pt x="2221" y="461"/>
                    <a:pt x="2207" y="466"/>
                  </a:cubicBezTo>
                  <a:cubicBezTo>
                    <a:pt x="2186" y="473"/>
                    <a:pt x="2191" y="491"/>
                    <a:pt x="2232" y="570"/>
                  </a:cubicBezTo>
                  <a:cubicBezTo>
                    <a:pt x="2259" y="622"/>
                    <a:pt x="2296" y="673"/>
                    <a:pt x="2313" y="682"/>
                  </a:cubicBezTo>
                  <a:cubicBezTo>
                    <a:pt x="2330" y="691"/>
                    <a:pt x="2393" y="697"/>
                    <a:pt x="2454" y="695"/>
                  </a:cubicBezTo>
                  <a:cubicBezTo>
                    <a:pt x="2515" y="693"/>
                    <a:pt x="2575" y="693"/>
                    <a:pt x="2587" y="694"/>
                  </a:cubicBezTo>
                  <a:cubicBezTo>
                    <a:pt x="2603" y="695"/>
                    <a:pt x="2607" y="752"/>
                    <a:pt x="2603" y="941"/>
                  </a:cubicBezTo>
                  <a:lnTo>
                    <a:pt x="2599" y="1187"/>
                  </a:lnTo>
                  <a:lnTo>
                    <a:pt x="1847" y="1192"/>
                  </a:lnTo>
                  <a:cubicBezTo>
                    <a:pt x="1434" y="1194"/>
                    <a:pt x="1091" y="1191"/>
                    <a:pt x="1085" y="1185"/>
                  </a:cubicBezTo>
                  <a:close/>
                  <a:moveTo>
                    <a:pt x="2064" y="682"/>
                  </a:moveTo>
                  <a:cubicBezTo>
                    <a:pt x="2069" y="674"/>
                    <a:pt x="2046" y="617"/>
                    <a:pt x="2014" y="557"/>
                  </a:cubicBezTo>
                  <a:cubicBezTo>
                    <a:pt x="1926" y="391"/>
                    <a:pt x="1941" y="347"/>
                    <a:pt x="2099" y="301"/>
                  </a:cubicBezTo>
                  <a:cubicBezTo>
                    <a:pt x="2132" y="291"/>
                    <a:pt x="2149" y="276"/>
                    <a:pt x="2149" y="254"/>
                  </a:cubicBezTo>
                  <a:cubicBezTo>
                    <a:pt x="2149" y="222"/>
                    <a:pt x="2135" y="220"/>
                    <a:pt x="1895" y="216"/>
                  </a:cubicBezTo>
                  <a:cubicBezTo>
                    <a:pt x="1655" y="212"/>
                    <a:pt x="1641" y="213"/>
                    <a:pt x="1624" y="245"/>
                  </a:cubicBezTo>
                  <a:cubicBezTo>
                    <a:pt x="1608" y="275"/>
                    <a:pt x="1612" y="282"/>
                    <a:pt x="1649" y="296"/>
                  </a:cubicBezTo>
                  <a:cubicBezTo>
                    <a:pt x="1673" y="305"/>
                    <a:pt x="1708" y="312"/>
                    <a:pt x="1728" y="312"/>
                  </a:cubicBezTo>
                  <a:cubicBezTo>
                    <a:pt x="1773" y="312"/>
                    <a:pt x="1824" y="359"/>
                    <a:pt x="1824" y="401"/>
                  </a:cubicBezTo>
                  <a:cubicBezTo>
                    <a:pt x="1824" y="419"/>
                    <a:pt x="1794" y="486"/>
                    <a:pt x="1757" y="550"/>
                  </a:cubicBezTo>
                  <a:cubicBezTo>
                    <a:pt x="1720" y="613"/>
                    <a:pt x="1694" y="672"/>
                    <a:pt x="1700" y="681"/>
                  </a:cubicBezTo>
                  <a:cubicBezTo>
                    <a:pt x="1711" y="700"/>
                    <a:pt x="2052" y="701"/>
                    <a:pt x="2064" y="682"/>
                  </a:cubicBezTo>
                  <a:close/>
                </a:path>
              </a:pathLst>
            </a:custGeom>
            <a:solidFill>
              <a:schemeClr val="tx2"/>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p>
          </p:txBody>
        </p:sp>
      </p:grpSp>
      <p:sp>
        <p:nvSpPr>
          <p:cNvPr id="4" name="TextBox 3">
            <a:extLst>
              <a:ext uri="{FF2B5EF4-FFF2-40B4-BE49-F238E27FC236}">
                <a16:creationId xmlns:a16="http://schemas.microsoft.com/office/drawing/2014/main" id="{C2B3A161-5F53-A488-C0C8-1A955B45D2FC}"/>
              </a:ext>
            </a:extLst>
          </p:cNvPr>
          <p:cNvSpPr txBox="1"/>
          <p:nvPr/>
        </p:nvSpPr>
        <p:spPr>
          <a:xfrm>
            <a:off x="3544582" y="5969286"/>
            <a:ext cx="5112362" cy="369332"/>
          </a:xfrm>
          <a:prstGeom prst="rect">
            <a:avLst/>
          </a:prstGeom>
          <a:noFill/>
        </p:spPr>
        <p:txBody>
          <a:bodyPr wrap="none" rtlCol="0">
            <a:spAutoFit/>
          </a:bodyPr>
          <a:lstStyle/>
          <a:p>
            <a:r>
              <a:rPr lang="en-US" sz="1800" dirty="0">
                <a:cs typeface="Calibri"/>
              </a:rPr>
              <a:t>Founder: Ben Treynor, VP of Engineering @ Google</a:t>
            </a:r>
          </a:p>
        </p:txBody>
      </p:sp>
    </p:spTree>
    <p:extLst>
      <p:ext uri="{BB962C8B-B14F-4D97-AF65-F5344CB8AC3E}">
        <p14:creationId xmlns:p14="http://schemas.microsoft.com/office/powerpoint/2010/main" val="276780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History of SRE</a:t>
            </a:r>
          </a:p>
        </p:txBody>
      </p:sp>
      <p:sp>
        <p:nvSpPr>
          <p:cNvPr id="2" name="TextBox 1">
            <a:extLst>
              <a:ext uri="{FF2B5EF4-FFF2-40B4-BE49-F238E27FC236}">
                <a16:creationId xmlns:a16="http://schemas.microsoft.com/office/drawing/2014/main" id="{F491D497-5834-95A4-4BF9-31FFA7BD9CAF}"/>
              </a:ext>
            </a:extLst>
          </p:cNvPr>
          <p:cNvSpPr txBox="1"/>
          <p:nvPr/>
        </p:nvSpPr>
        <p:spPr>
          <a:xfrm>
            <a:off x="472611" y="1304817"/>
            <a:ext cx="10140593" cy="4524315"/>
          </a:xfrm>
          <a:prstGeom prst="rect">
            <a:avLst/>
          </a:prstGeom>
          <a:noFill/>
        </p:spPr>
        <p:txBody>
          <a:bodyPr wrap="square" rtlCol="0">
            <a:spAutoFit/>
          </a:bodyPr>
          <a:lstStyle/>
          <a:p>
            <a:pPr marL="285750" indent="-285750">
              <a:buFont typeface="Arial" panose="020B0604020202020204" pitchFamily="34" charset="0"/>
              <a:buChar char="•"/>
            </a:pPr>
            <a:r>
              <a:rPr lang="en-IN" sz="2400" dirty="0"/>
              <a:t>First SRE team originated at Google in 2003.</a:t>
            </a:r>
          </a:p>
          <a:p>
            <a:endParaRPr lang="en-IN" sz="2400" dirty="0"/>
          </a:p>
          <a:p>
            <a:pPr marL="285750" indent="-285750">
              <a:buFont typeface="Arial" panose="020B0604020202020204" pitchFamily="34" charset="0"/>
              <a:buChar char="•"/>
            </a:pPr>
            <a:r>
              <a:rPr lang="en-IN" sz="2400" dirty="0"/>
              <a:t>Ben Treynor formed an SRE team </a:t>
            </a:r>
            <a:r>
              <a:rPr lang="en-US" sz="2400" dirty="0"/>
              <a:t>to improve the reliability and scalability of the company's sites.</a:t>
            </a:r>
          </a:p>
          <a:p>
            <a:endParaRPr lang="en-US" sz="2400" dirty="0"/>
          </a:p>
          <a:p>
            <a:pPr marL="285750" indent="-285750">
              <a:buFont typeface="Arial" panose="020B0604020202020204" pitchFamily="34" charset="0"/>
              <a:buChar char="•"/>
            </a:pPr>
            <a:r>
              <a:rPr lang="en-US" sz="2400" dirty="0"/>
              <a:t>Other leading tech companies, including Netflix and Amazon, soon followed the suit.</a:t>
            </a:r>
          </a:p>
          <a:p>
            <a:endParaRPr lang="en-US" sz="2400" dirty="0"/>
          </a:p>
          <a:p>
            <a:pPr marL="285750" indent="-285750">
              <a:buFont typeface="Arial" panose="020B0604020202020204" pitchFamily="34" charset="0"/>
              <a:buChar char="•"/>
            </a:pPr>
            <a:r>
              <a:rPr lang="en-US" sz="2400" dirty="0"/>
              <a:t>Some of the driving factors included:</a:t>
            </a:r>
          </a:p>
          <a:p>
            <a:pPr marL="1257300" lvl="2" indent="-342900">
              <a:buFont typeface="Wingdings" panose="05000000000000000000" pitchFamily="2" charset="2"/>
              <a:buChar char="Ø"/>
            </a:pPr>
            <a:r>
              <a:rPr lang="en-US" sz="2400" dirty="0"/>
              <a:t>Reliability needs (minimal downtime and latency)</a:t>
            </a:r>
          </a:p>
          <a:p>
            <a:pPr marL="1257300" lvl="2" indent="-342900">
              <a:buFont typeface="Wingdings" panose="05000000000000000000" pitchFamily="2" charset="2"/>
              <a:buChar char="Ø"/>
            </a:pPr>
            <a:r>
              <a:rPr lang="en-US" sz="2400" dirty="0"/>
              <a:t>Massive infrastructure</a:t>
            </a:r>
          </a:p>
          <a:p>
            <a:pPr marL="1257300" lvl="2" indent="-342900">
              <a:buFont typeface="Wingdings" panose="05000000000000000000" pitchFamily="2" charset="2"/>
              <a:buChar char="Ø"/>
            </a:pPr>
            <a:r>
              <a:rPr lang="en-US" sz="2400" dirty="0"/>
              <a:t>No DevOps</a:t>
            </a:r>
          </a:p>
        </p:txBody>
      </p:sp>
    </p:spTree>
    <p:extLst>
      <p:ext uri="{BB962C8B-B14F-4D97-AF65-F5344CB8AC3E}">
        <p14:creationId xmlns:p14="http://schemas.microsoft.com/office/powerpoint/2010/main" val="554000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Core Principles</a:t>
            </a:r>
          </a:p>
        </p:txBody>
      </p:sp>
      <p:sp>
        <p:nvSpPr>
          <p:cNvPr id="11" name="Oval 10">
            <a:extLst>
              <a:ext uri="{FF2B5EF4-FFF2-40B4-BE49-F238E27FC236}">
                <a16:creationId xmlns:a16="http://schemas.microsoft.com/office/drawing/2014/main" id="{33C8F41E-C0BA-BE58-52CA-3A0DDC1E9D0D}"/>
              </a:ext>
            </a:extLst>
          </p:cNvPr>
          <p:cNvSpPr/>
          <p:nvPr/>
        </p:nvSpPr>
        <p:spPr>
          <a:xfrm>
            <a:off x="2989780" y="1715784"/>
            <a:ext cx="5969285" cy="2763749"/>
          </a:xfrm>
          <a:prstGeom prst="ellipse">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6600" dirty="0">
                <a:ln w="0"/>
                <a:solidFill>
                  <a:schemeClr val="tx1"/>
                </a:solidFill>
                <a:effectLst>
                  <a:outerShdw blurRad="38100" dist="19050" dir="2700000" algn="tl" rotWithShape="0">
                    <a:schemeClr val="dk1">
                      <a:alpha val="40000"/>
                    </a:schemeClr>
                  </a:outerShdw>
                </a:effectLst>
              </a:rPr>
              <a:t>SRE</a:t>
            </a:r>
          </a:p>
        </p:txBody>
      </p:sp>
      <p:sp>
        <p:nvSpPr>
          <p:cNvPr id="3" name="Rectangle 2">
            <a:extLst>
              <a:ext uri="{FF2B5EF4-FFF2-40B4-BE49-F238E27FC236}">
                <a16:creationId xmlns:a16="http://schemas.microsoft.com/office/drawing/2014/main" id="{91B03281-C1A8-7847-F4A9-2AFA92F3275E}"/>
              </a:ext>
            </a:extLst>
          </p:cNvPr>
          <p:cNvSpPr/>
          <p:nvPr/>
        </p:nvSpPr>
        <p:spPr>
          <a:xfrm>
            <a:off x="1119883" y="1284270"/>
            <a:ext cx="2661007" cy="1952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Reliability</a:t>
            </a:r>
            <a:endParaRPr lang="en-IN" b="1" dirty="0"/>
          </a:p>
          <a:p>
            <a:pPr algn="ctr"/>
            <a:endParaRPr lang="en-IN" dirty="0"/>
          </a:p>
          <a:p>
            <a:pPr algn="ctr"/>
            <a:r>
              <a:rPr lang="en-US" dirty="0"/>
              <a:t>Ensuring the system is dependable and performs well</a:t>
            </a:r>
            <a:endParaRPr lang="en-IN" dirty="0"/>
          </a:p>
        </p:txBody>
      </p:sp>
      <p:sp>
        <p:nvSpPr>
          <p:cNvPr id="4" name="Rectangle 3">
            <a:extLst>
              <a:ext uri="{FF2B5EF4-FFF2-40B4-BE49-F238E27FC236}">
                <a16:creationId xmlns:a16="http://schemas.microsoft.com/office/drawing/2014/main" id="{12163A13-8EDD-FE31-B06E-30078860BC6F}"/>
              </a:ext>
            </a:extLst>
          </p:cNvPr>
          <p:cNvSpPr/>
          <p:nvPr/>
        </p:nvSpPr>
        <p:spPr>
          <a:xfrm>
            <a:off x="2840806" y="3922160"/>
            <a:ext cx="2661007" cy="195209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Scalability</a:t>
            </a:r>
            <a:endParaRPr lang="en-IN" b="1" dirty="0"/>
          </a:p>
          <a:p>
            <a:pPr algn="ctr"/>
            <a:endParaRPr lang="en-IN" dirty="0"/>
          </a:p>
          <a:p>
            <a:pPr algn="ctr"/>
            <a:r>
              <a:rPr lang="en-US" dirty="0"/>
              <a:t>Handling growth in traffic and data gracefully</a:t>
            </a:r>
            <a:endParaRPr lang="en-IN" dirty="0"/>
          </a:p>
        </p:txBody>
      </p:sp>
      <p:sp>
        <p:nvSpPr>
          <p:cNvPr id="5" name="Rectangle 4">
            <a:extLst>
              <a:ext uri="{FF2B5EF4-FFF2-40B4-BE49-F238E27FC236}">
                <a16:creationId xmlns:a16="http://schemas.microsoft.com/office/drawing/2014/main" id="{B33FEB11-3D10-9FB7-5D26-99F462AA29C2}"/>
              </a:ext>
            </a:extLst>
          </p:cNvPr>
          <p:cNvSpPr/>
          <p:nvPr/>
        </p:nvSpPr>
        <p:spPr>
          <a:xfrm>
            <a:off x="6434589" y="3922160"/>
            <a:ext cx="2661007" cy="195209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Efficiency</a:t>
            </a:r>
            <a:endParaRPr lang="en-IN" b="1" dirty="0"/>
          </a:p>
          <a:p>
            <a:pPr algn="ctr"/>
            <a:endParaRPr lang="en-IN" dirty="0"/>
          </a:p>
          <a:p>
            <a:pPr algn="ctr"/>
            <a:r>
              <a:rPr lang="en-US" dirty="0"/>
              <a:t>Optimal use of resources and cost management</a:t>
            </a:r>
            <a:endParaRPr lang="en-IN" dirty="0"/>
          </a:p>
        </p:txBody>
      </p:sp>
      <p:sp>
        <p:nvSpPr>
          <p:cNvPr id="6" name="Rectangle 5">
            <a:extLst>
              <a:ext uri="{FF2B5EF4-FFF2-40B4-BE49-F238E27FC236}">
                <a16:creationId xmlns:a16="http://schemas.microsoft.com/office/drawing/2014/main" id="{A532ED23-4167-600D-37FE-A4BB54737B6A}"/>
              </a:ext>
            </a:extLst>
          </p:cNvPr>
          <p:cNvSpPr/>
          <p:nvPr/>
        </p:nvSpPr>
        <p:spPr>
          <a:xfrm>
            <a:off x="8210763" y="1284270"/>
            <a:ext cx="2661007" cy="1952090"/>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Incident Management</a:t>
            </a:r>
            <a:endParaRPr lang="en-IN" b="1" dirty="0"/>
          </a:p>
          <a:p>
            <a:pPr algn="ctr"/>
            <a:endParaRPr lang="en-IN" dirty="0"/>
          </a:p>
          <a:p>
            <a:pPr algn="ctr"/>
            <a:r>
              <a:rPr lang="en-US" dirty="0"/>
              <a:t>Quickly resolving and learning from failures</a:t>
            </a:r>
            <a:endParaRPr lang="en-IN" dirty="0"/>
          </a:p>
        </p:txBody>
      </p:sp>
    </p:spTree>
    <p:extLst>
      <p:ext uri="{BB962C8B-B14F-4D97-AF65-F5344CB8AC3E}">
        <p14:creationId xmlns:p14="http://schemas.microsoft.com/office/powerpoint/2010/main" val="1198845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DevOps vs SRE</a:t>
            </a:r>
          </a:p>
        </p:txBody>
      </p:sp>
      <p:graphicFrame>
        <p:nvGraphicFramePr>
          <p:cNvPr id="2" name="Table 6">
            <a:extLst>
              <a:ext uri="{FF2B5EF4-FFF2-40B4-BE49-F238E27FC236}">
                <a16:creationId xmlns:a16="http://schemas.microsoft.com/office/drawing/2014/main" id="{85D85C49-5F9E-9DD9-640D-7DD2E3D372B4}"/>
              </a:ext>
            </a:extLst>
          </p:cNvPr>
          <p:cNvGraphicFramePr>
            <a:graphicFrameLocks noGrp="1"/>
          </p:cNvGraphicFramePr>
          <p:nvPr>
            <p:extLst>
              <p:ext uri="{D42A27DB-BD31-4B8C-83A1-F6EECF244321}">
                <p14:modId xmlns:p14="http://schemas.microsoft.com/office/powerpoint/2010/main" val="1340796084"/>
              </p:ext>
            </p:extLst>
          </p:nvPr>
        </p:nvGraphicFramePr>
        <p:xfrm>
          <a:off x="380999" y="1140432"/>
          <a:ext cx="11331540" cy="4572000"/>
        </p:xfrm>
        <a:graphic>
          <a:graphicData uri="http://schemas.openxmlformats.org/drawingml/2006/table">
            <a:tbl>
              <a:tblPr firstRow="1" bandRow="1">
                <a:tableStyleId>{5C22544A-7EE6-4342-B048-85BDC9FD1C3A}</a:tableStyleId>
              </a:tblPr>
              <a:tblGrid>
                <a:gridCol w="5536916">
                  <a:extLst>
                    <a:ext uri="{9D8B030D-6E8A-4147-A177-3AD203B41FA5}">
                      <a16:colId xmlns:a16="http://schemas.microsoft.com/office/drawing/2014/main" val="4082089383"/>
                    </a:ext>
                  </a:extLst>
                </a:gridCol>
                <a:gridCol w="5794624">
                  <a:extLst>
                    <a:ext uri="{9D8B030D-6E8A-4147-A177-3AD203B41FA5}">
                      <a16:colId xmlns:a16="http://schemas.microsoft.com/office/drawing/2014/main" val="683556778"/>
                    </a:ext>
                  </a:extLst>
                </a:gridCol>
              </a:tblGrid>
              <a:tr h="292779">
                <a:tc>
                  <a:txBody>
                    <a:bodyPr/>
                    <a:lstStyle/>
                    <a:p>
                      <a:r>
                        <a:rPr lang="en-IN" dirty="0"/>
                        <a:t>DevOps</a:t>
                      </a:r>
                    </a:p>
                  </a:txBody>
                  <a:tcPr/>
                </a:tc>
                <a:tc>
                  <a:txBody>
                    <a:bodyPr/>
                    <a:lstStyle/>
                    <a:p>
                      <a:r>
                        <a:rPr lang="en-IN" dirty="0"/>
                        <a:t>SRE</a:t>
                      </a:r>
                    </a:p>
                  </a:txBody>
                  <a:tcPr/>
                </a:tc>
                <a:extLst>
                  <a:ext uri="{0D108BD9-81ED-4DB2-BD59-A6C34878D82A}">
                    <a16:rowId xmlns:a16="http://schemas.microsoft.com/office/drawing/2014/main" val="458629695"/>
                  </a:ext>
                </a:extLst>
              </a:tr>
              <a:tr h="512364">
                <a:tc>
                  <a:txBody>
                    <a:bodyPr/>
                    <a:lstStyle/>
                    <a:p>
                      <a:r>
                        <a:rPr lang="en-US" sz="1800" b="0" i="0" kern="1200" dirty="0">
                          <a:solidFill>
                            <a:schemeClr val="dk1"/>
                          </a:solidFill>
                          <a:effectLst/>
                          <a:latin typeface="+mn-lt"/>
                          <a:ea typeface="+mn-ea"/>
                          <a:cs typeface="+mn-cs"/>
                        </a:rPr>
                        <a:t>Focuses on the end-to-end application lifecycle</a:t>
                      </a:r>
                      <a:endParaRPr lang="en-IN" dirty="0"/>
                    </a:p>
                  </a:txBody>
                  <a:tcPr/>
                </a:tc>
                <a:tc>
                  <a:txBody>
                    <a:bodyPr/>
                    <a:lstStyle/>
                    <a:p>
                      <a:r>
                        <a:rPr lang="en-US" sz="1800" b="0" i="0" kern="1200" dirty="0">
                          <a:solidFill>
                            <a:schemeClr val="dk1"/>
                          </a:solidFill>
                          <a:effectLst/>
                          <a:latin typeface="+mn-lt"/>
                          <a:ea typeface="+mn-ea"/>
                          <a:cs typeface="+mn-cs"/>
                        </a:rPr>
                        <a:t>Focuses on delivery and stability of the production environment</a:t>
                      </a:r>
                      <a:endParaRPr lang="en-IN" dirty="0"/>
                    </a:p>
                  </a:txBody>
                  <a:tcPr/>
                </a:tc>
                <a:extLst>
                  <a:ext uri="{0D108BD9-81ED-4DB2-BD59-A6C34878D82A}">
                    <a16:rowId xmlns:a16="http://schemas.microsoft.com/office/drawing/2014/main" val="2611012680"/>
                  </a:ext>
                </a:extLst>
              </a:tr>
              <a:tr h="296846">
                <a:tc>
                  <a:txBody>
                    <a:bodyPr/>
                    <a:lstStyle/>
                    <a:p>
                      <a:r>
                        <a:rPr lang="en-IN" dirty="0"/>
                        <a:t>All about “</a:t>
                      </a:r>
                      <a:r>
                        <a:rPr lang="en-IN" b="1" dirty="0"/>
                        <a:t>what</a:t>
                      </a:r>
                      <a:r>
                        <a:rPr lang="en-IN" dirty="0"/>
                        <a:t>” needs to be done</a:t>
                      </a:r>
                    </a:p>
                  </a:txBody>
                  <a:tcPr/>
                </a:tc>
                <a:tc>
                  <a:txBody>
                    <a:bodyPr/>
                    <a:lstStyle/>
                    <a:p>
                      <a:r>
                        <a:rPr lang="en-IN" dirty="0"/>
                        <a:t>Talks about “</a:t>
                      </a:r>
                      <a:r>
                        <a:rPr lang="en-IN" b="1" dirty="0"/>
                        <a:t>how</a:t>
                      </a:r>
                      <a:r>
                        <a:rPr lang="en-IN" dirty="0"/>
                        <a:t>” it can be done</a:t>
                      </a:r>
                    </a:p>
                  </a:txBody>
                  <a:tcPr/>
                </a:tc>
                <a:extLst>
                  <a:ext uri="{0D108BD9-81ED-4DB2-BD59-A6C34878D82A}">
                    <a16:rowId xmlns:a16="http://schemas.microsoft.com/office/drawing/2014/main" val="4113526906"/>
                  </a:ext>
                </a:extLst>
              </a:tr>
              <a:tr h="512364">
                <a:tc>
                  <a:txBody>
                    <a:bodyPr/>
                    <a:lstStyle/>
                    <a:p>
                      <a:r>
                        <a:rPr lang="en-IN" dirty="0"/>
                        <a:t>Reduce organization silos</a:t>
                      </a:r>
                    </a:p>
                  </a:txBody>
                  <a:tcPr/>
                </a:tc>
                <a:tc>
                  <a:txBody>
                    <a:bodyPr/>
                    <a:lstStyle/>
                    <a:p>
                      <a:r>
                        <a:rPr lang="en-US" sz="1800" kern="1200" dirty="0">
                          <a:solidFill>
                            <a:schemeClr val="dk1"/>
                          </a:solidFill>
                          <a:effectLst/>
                          <a:latin typeface="+mn-lt"/>
                          <a:ea typeface="+mn-ea"/>
                          <a:cs typeface="+mn-cs"/>
                        </a:rPr>
                        <a:t>Share ownership with developers by using the same tools and techniques across the stack</a:t>
                      </a:r>
                      <a:endParaRPr lang="en-IN" dirty="0"/>
                    </a:p>
                  </a:txBody>
                  <a:tcPr/>
                </a:tc>
                <a:extLst>
                  <a:ext uri="{0D108BD9-81ED-4DB2-BD59-A6C34878D82A}">
                    <a16:rowId xmlns:a16="http://schemas.microsoft.com/office/drawing/2014/main" val="1007269706"/>
                  </a:ext>
                </a:extLst>
              </a:tr>
              <a:tr h="512364">
                <a:tc>
                  <a:txBody>
                    <a:bodyPr/>
                    <a:lstStyle/>
                    <a:p>
                      <a:r>
                        <a:rPr lang="en-US" sz="1800" kern="1200" dirty="0">
                          <a:solidFill>
                            <a:schemeClr val="dk1"/>
                          </a:solidFill>
                          <a:effectLst/>
                          <a:latin typeface="+mn-lt"/>
                          <a:ea typeface="+mn-ea"/>
                          <a:cs typeface="+mn-cs"/>
                        </a:rPr>
                        <a:t>Accept failure as normal</a:t>
                      </a:r>
                      <a:endParaRPr lang="en-IN" dirty="0"/>
                    </a:p>
                  </a:txBody>
                  <a:tcPr/>
                </a:tc>
                <a:tc>
                  <a:txBody>
                    <a:bodyPr/>
                    <a:lstStyle/>
                    <a:p>
                      <a:r>
                        <a:rPr lang="en-US" sz="1800" kern="1200" dirty="0">
                          <a:solidFill>
                            <a:schemeClr val="dk1"/>
                          </a:solidFill>
                          <a:effectLst/>
                          <a:latin typeface="+mn-lt"/>
                          <a:ea typeface="+mn-ea"/>
                          <a:cs typeface="+mn-cs"/>
                        </a:rPr>
                        <a:t>Have a formula for balancing accidents and failures against new releases</a:t>
                      </a:r>
                      <a:endParaRPr lang="en-IN" dirty="0"/>
                    </a:p>
                  </a:txBody>
                  <a:tcPr/>
                </a:tc>
                <a:extLst>
                  <a:ext uri="{0D108BD9-81ED-4DB2-BD59-A6C34878D82A}">
                    <a16:rowId xmlns:a16="http://schemas.microsoft.com/office/drawing/2014/main" val="1452301023"/>
                  </a:ext>
                </a:extLst>
              </a:tr>
              <a:tr h="296846">
                <a:tc>
                  <a:txBody>
                    <a:bodyPr/>
                    <a:lstStyle/>
                    <a:p>
                      <a:r>
                        <a:rPr lang="en-US" sz="1800" kern="1200" dirty="0">
                          <a:solidFill>
                            <a:schemeClr val="dk1"/>
                          </a:solidFill>
                          <a:effectLst/>
                          <a:latin typeface="+mn-lt"/>
                          <a:ea typeface="+mn-ea"/>
                          <a:cs typeface="+mn-cs"/>
                        </a:rPr>
                        <a:t>Implement gradual change</a:t>
                      </a:r>
                      <a:endParaRPr lang="en-IN" dirty="0"/>
                    </a:p>
                  </a:txBody>
                  <a:tcPr/>
                </a:tc>
                <a:tc>
                  <a:txBody>
                    <a:bodyPr/>
                    <a:lstStyle/>
                    <a:p>
                      <a:r>
                        <a:rPr lang="en-US" sz="1800" kern="1200" dirty="0">
                          <a:solidFill>
                            <a:schemeClr val="dk1"/>
                          </a:solidFill>
                          <a:effectLst/>
                          <a:latin typeface="+mn-lt"/>
                          <a:ea typeface="+mn-ea"/>
                          <a:cs typeface="+mn-cs"/>
                        </a:rPr>
                        <a:t>Encourage moving quickly by reducing costs of failure</a:t>
                      </a:r>
                      <a:endParaRPr lang="en-IN" dirty="0"/>
                    </a:p>
                  </a:txBody>
                  <a:tcPr/>
                </a:tc>
                <a:extLst>
                  <a:ext uri="{0D108BD9-81ED-4DB2-BD59-A6C34878D82A}">
                    <a16:rowId xmlns:a16="http://schemas.microsoft.com/office/drawing/2014/main" val="3193407913"/>
                  </a:ext>
                </a:extLst>
              </a:tr>
              <a:tr h="512364">
                <a:tc>
                  <a:txBody>
                    <a:bodyPr/>
                    <a:lstStyle/>
                    <a:p>
                      <a:r>
                        <a:rPr lang="en-US" sz="1800" kern="1200" dirty="0">
                          <a:solidFill>
                            <a:schemeClr val="dk1"/>
                          </a:solidFill>
                          <a:effectLst/>
                          <a:latin typeface="+mn-lt"/>
                          <a:ea typeface="+mn-ea"/>
                          <a:cs typeface="+mn-cs"/>
                        </a:rPr>
                        <a:t>Leverage tooling &amp; automation</a:t>
                      </a:r>
                      <a:endParaRPr lang="en-IN" dirty="0"/>
                    </a:p>
                  </a:txBody>
                  <a:tcPr/>
                </a:tc>
                <a:tc>
                  <a:txBody>
                    <a:bodyPr/>
                    <a:lstStyle/>
                    <a:p>
                      <a:r>
                        <a:rPr lang="en-US" sz="1800" kern="1200" dirty="0">
                          <a:solidFill>
                            <a:schemeClr val="dk1"/>
                          </a:solidFill>
                          <a:effectLst/>
                          <a:latin typeface="+mn-lt"/>
                          <a:ea typeface="+mn-ea"/>
                          <a:cs typeface="+mn-cs"/>
                        </a:rPr>
                        <a:t>Encourages automation and minimizing manual work to focus on efforts that bring long-term value to the system</a:t>
                      </a:r>
                      <a:endParaRPr lang="en-IN" dirty="0"/>
                    </a:p>
                  </a:txBody>
                  <a:tcPr/>
                </a:tc>
                <a:extLst>
                  <a:ext uri="{0D108BD9-81ED-4DB2-BD59-A6C34878D82A}">
                    <a16:rowId xmlns:a16="http://schemas.microsoft.com/office/drawing/2014/main" val="4060314245"/>
                  </a:ext>
                </a:extLst>
              </a:tr>
              <a:tr h="731948">
                <a:tc>
                  <a:txBody>
                    <a:bodyPr/>
                    <a:lstStyle/>
                    <a:p>
                      <a:r>
                        <a:rPr lang="en-US" sz="1800" kern="1200" dirty="0">
                          <a:solidFill>
                            <a:schemeClr val="dk1"/>
                          </a:solidFill>
                          <a:effectLst/>
                          <a:latin typeface="+mn-lt"/>
                          <a:ea typeface="+mn-ea"/>
                          <a:cs typeface="+mn-cs"/>
                        </a:rPr>
                        <a:t>Measure everything</a:t>
                      </a:r>
                      <a:endParaRPr lang="en-IN" dirty="0"/>
                    </a:p>
                  </a:txBody>
                  <a:tcPr/>
                </a:tc>
                <a:tc>
                  <a:txBody>
                    <a:bodyPr/>
                    <a:lstStyle/>
                    <a:p>
                      <a:r>
                        <a:rPr lang="en-US" sz="1800" kern="1200" dirty="0">
                          <a:solidFill>
                            <a:schemeClr val="dk1"/>
                          </a:solidFill>
                          <a:effectLst/>
                          <a:latin typeface="+mn-lt"/>
                          <a:ea typeface="+mn-ea"/>
                          <a:cs typeface="+mn-cs"/>
                        </a:rPr>
                        <a:t>Believes that it’s a software problem, and defines prescriptive ways for measuring availability, uptime, outages, toil, etc.</a:t>
                      </a:r>
                      <a:endParaRPr lang="en-IN" dirty="0"/>
                    </a:p>
                  </a:txBody>
                  <a:tcPr/>
                </a:tc>
                <a:extLst>
                  <a:ext uri="{0D108BD9-81ED-4DB2-BD59-A6C34878D82A}">
                    <a16:rowId xmlns:a16="http://schemas.microsoft.com/office/drawing/2014/main" val="574705687"/>
                  </a:ext>
                </a:extLst>
              </a:tr>
            </a:tbl>
          </a:graphicData>
        </a:graphic>
      </p:graphicFrame>
    </p:spTree>
    <p:extLst>
      <p:ext uri="{BB962C8B-B14F-4D97-AF65-F5344CB8AC3E}">
        <p14:creationId xmlns:p14="http://schemas.microsoft.com/office/powerpoint/2010/main" val="69229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0" y="216120"/>
            <a:ext cx="10956471" cy="652168"/>
          </a:xfrm>
        </p:spPr>
        <p:txBody>
          <a:bodyPr vert="horz" lIns="0" tIns="0" rIns="0" bIns="0" rtlCol="0" anchor="t" anchorCtr="0">
            <a:noAutofit/>
          </a:bodyPr>
          <a:lstStyle/>
          <a:p>
            <a:r>
              <a:rPr lang="en-US" sz="3600" b="1" dirty="0"/>
              <a:t>DevOps and SRE</a:t>
            </a:r>
          </a:p>
        </p:txBody>
      </p:sp>
      <p:sp>
        <p:nvSpPr>
          <p:cNvPr id="10" name="Rectangle: Rounded Corners 9">
            <a:extLst>
              <a:ext uri="{FF2B5EF4-FFF2-40B4-BE49-F238E27FC236}">
                <a16:creationId xmlns:a16="http://schemas.microsoft.com/office/drawing/2014/main" id="{A14A0D0F-8EEA-06EB-8FCC-609A2CE87FB3}"/>
              </a:ext>
            </a:extLst>
          </p:cNvPr>
          <p:cNvSpPr/>
          <p:nvPr/>
        </p:nvSpPr>
        <p:spPr>
          <a:xfrm>
            <a:off x="381001" y="1130158"/>
            <a:ext cx="2588230"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Similarities</a:t>
            </a:r>
          </a:p>
        </p:txBody>
      </p:sp>
      <p:sp>
        <p:nvSpPr>
          <p:cNvPr id="11" name="Rectangle 10">
            <a:extLst>
              <a:ext uri="{FF2B5EF4-FFF2-40B4-BE49-F238E27FC236}">
                <a16:creationId xmlns:a16="http://schemas.microsoft.com/office/drawing/2014/main" id="{E0E342A4-47F1-568F-5013-CCC348CA563C}"/>
              </a:ext>
            </a:extLst>
          </p:cNvPr>
          <p:cNvSpPr/>
          <p:nvPr/>
        </p:nvSpPr>
        <p:spPr>
          <a:xfrm>
            <a:off x="381000" y="1746607"/>
            <a:ext cx="6101993" cy="1438382"/>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r>
              <a:rPr lang="en-US" dirty="0">
                <a:solidFill>
                  <a:schemeClr val="tx1"/>
                </a:solidFill>
              </a:rPr>
              <a:t>SRE and DevOps are more alike than different. Both approaches arose from a desire to enhance the customer experience while building an efficient IT ecosystem. Both SRE and DevOps measure their success using similar metrics, such as the failure rate of newly deployed features.</a:t>
            </a:r>
            <a:endParaRPr lang="en-IN" dirty="0">
              <a:solidFill>
                <a:schemeClr val="tx1"/>
              </a:solidFill>
            </a:endParaRPr>
          </a:p>
        </p:txBody>
      </p:sp>
      <p:sp>
        <p:nvSpPr>
          <p:cNvPr id="12" name="Rectangle: Rounded Corners 11">
            <a:extLst>
              <a:ext uri="{FF2B5EF4-FFF2-40B4-BE49-F238E27FC236}">
                <a16:creationId xmlns:a16="http://schemas.microsoft.com/office/drawing/2014/main" id="{519AACA6-B4D5-7868-1699-EA3F5AC928ED}"/>
              </a:ext>
            </a:extLst>
          </p:cNvPr>
          <p:cNvSpPr/>
          <p:nvPr/>
        </p:nvSpPr>
        <p:spPr>
          <a:xfrm>
            <a:off x="381001" y="3673011"/>
            <a:ext cx="2588230"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Working together</a:t>
            </a:r>
          </a:p>
        </p:txBody>
      </p:sp>
      <p:sp>
        <p:nvSpPr>
          <p:cNvPr id="13" name="Rectangle 12">
            <a:extLst>
              <a:ext uri="{FF2B5EF4-FFF2-40B4-BE49-F238E27FC236}">
                <a16:creationId xmlns:a16="http://schemas.microsoft.com/office/drawing/2014/main" id="{DF479DBB-5005-222C-59CF-065CC4AF82C1}"/>
              </a:ext>
            </a:extLst>
          </p:cNvPr>
          <p:cNvSpPr/>
          <p:nvPr/>
        </p:nvSpPr>
        <p:spPr>
          <a:xfrm>
            <a:off x="381000" y="4289460"/>
            <a:ext cx="6101993" cy="1438382"/>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r>
              <a:rPr lang="en-US" dirty="0">
                <a:solidFill>
                  <a:schemeClr val="tx1"/>
                </a:solidFill>
              </a:rPr>
              <a:t>SRE and DevOps are not mutually exclusive. They complement each other in their shared aim to deliver quality software faster and more reliably. SRE and DevOps use feedback data from the production environment, often collaboratively, to design improved products and systems. </a:t>
            </a:r>
            <a:endParaRPr lang="en-IN" dirty="0">
              <a:solidFill>
                <a:schemeClr val="tx1"/>
              </a:solidFill>
            </a:endParaRPr>
          </a:p>
        </p:txBody>
      </p:sp>
      <p:pic>
        <p:nvPicPr>
          <p:cNvPr id="1032" name="Picture 8">
            <a:extLst>
              <a:ext uri="{FF2B5EF4-FFF2-40B4-BE49-F238E27FC236}">
                <a16:creationId xmlns:a16="http://schemas.microsoft.com/office/drawing/2014/main" id="{DACAB73F-0863-0A8E-4088-D61992451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1401" y="1998859"/>
            <a:ext cx="4666763" cy="3531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22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Key Concepts of SRE</a:t>
            </a:r>
          </a:p>
        </p:txBody>
      </p:sp>
      <p:sp>
        <p:nvSpPr>
          <p:cNvPr id="3" name="Oval 2">
            <a:extLst>
              <a:ext uri="{FF2B5EF4-FFF2-40B4-BE49-F238E27FC236}">
                <a16:creationId xmlns:a16="http://schemas.microsoft.com/office/drawing/2014/main" id="{91B03281-C1A8-7847-F4A9-2AFA92F3275E}"/>
              </a:ext>
            </a:extLst>
          </p:cNvPr>
          <p:cNvSpPr/>
          <p:nvPr/>
        </p:nvSpPr>
        <p:spPr>
          <a:xfrm>
            <a:off x="237165" y="1092026"/>
            <a:ext cx="2661008" cy="25775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SLO</a:t>
            </a:r>
            <a:endParaRPr lang="en-IN" b="1" dirty="0"/>
          </a:p>
          <a:p>
            <a:pPr algn="ctr"/>
            <a:r>
              <a:rPr lang="en-IN" dirty="0"/>
              <a:t>(</a:t>
            </a:r>
            <a:r>
              <a:rPr lang="en-US" dirty="0"/>
              <a:t>Service Level Objectives)</a:t>
            </a:r>
          </a:p>
          <a:p>
            <a:pPr algn="ctr"/>
            <a:endParaRPr lang="en-US" dirty="0"/>
          </a:p>
          <a:p>
            <a:pPr algn="ctr"/>
            <a:r>
              <a:rPr lang="en-IN" dirty="0"/>
              <a:t>Define acceptable performance levels</a:t>
            </a:r>
          </a:p>
        </p:txBody>
      </p:sp>
      <p:sp>
        <p:nvSpPr>
          <p:cNvPr id="4" name="Oval 3">
            <a:extLst>
              <a:ext uri="{FF2B5EF4-FFF2-40B4-BE49-F238E27FC236}">
                <a16:creationId xmlns:a16="http://schemas.microsoft.com/office/drawing/2014/main" id="{12163A13-8EDD-FE31-B06E-30078860BC6F}"/>
              </a:ext>
            </a:extLst>
          </p:cNvPr>
          <p:cNvSpPr/>
          <p:nvPr/>
        </p:nvSpPr>
        <p:spPr>
          <a:xfrm>
            <a:off x="3250886" y="1031665"/>
            <a:ext cx="2661007" cy="263789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SLI</a:t>
            </a:r>
            <a:endParaRPr lang="en-IN" b="1" dirty="0"/>
          </a:p>
          <a:p>
            <a:pPr algn="ctr"/>
            <a:r>
              <a:rPr lang="en-IN" dirty="0"/>
              <a:t>(</a:t>
            </a:r>
            <a:r>
              <a:rPr lang="en-US" dirty="0"/>
              <a:t>Service Level Indicators)</a:t>
            </a:r>
          </a:p>
          <a:p>
            <a:pPr algn="ctr"/>
            <a:endParaRPr lang="en-US" dirty="0"/>
          </a:p>
          <a:p>
            <a:pPr algn="ctr"/>
            <a:r>
              <a:rPr lang="en-IN" dirty="0"/>
              <a:t>Metrics to measure performance</a:t>
            </a:r>
          </a:p>
        </p:txBody>
      </p:sp>
      <p:sp>
        <p:nvSpPr>
          <p:cNvPr id="5" name="Oval 4">
            <a:extLst>
              <a:ext uri="{FF2B5EF4-FFF2-40B4-BE49-F238E27FC236}">
                <a16:creationId xmlns:a16="http://schemas.microsoft.com/office/drawing/2014/main" id="{B33FEB11-3D10-9FB7-5D26-99F462AA29C2}"/>
              </a:ext>
            </a:extLst>
          </p:cNvPr>
          <p:cNvSpPr/>
          <p:nvPr/>
        </p:nvSpPr>
        <p:spPr>
          <a:xfrm>
            <a:off x="6264607" y="1031665"/>
            <a:ext cx="2661007" cy="2637889"/>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SLA</a:t>
            </a:r>
          </a:p>
          <a:p>
            <a:pPr algn="ctr"/>
            <a:r>
              <a:rPr lang="en-IN" dirty="0"/>
              <a:t>(Service Level Agreements)</a:t>
            </a:r>
          </a:p>
          <a:p>
            <a:pPr algn="ctr"/>
            <a:endParaRPr lang="en-IN" dirty="0"/>
          </a:p>
          <a:p>
            <a:pPr algn="ctr"/>
            <a:r>
              <a:rPr lang="en-US" dirty="0"/>
              <a:t>Contracts with customers about service levels</a:t>
            </a:r>
            <a:endParaRPr lang="en-IN" dirty="0"/>
          </a:p>
        </p:txBody>
      </p:sp>
      <p:sp>
        <p:nvSpPr>
          <p:cNvPr id="6" name="Oval 5">
            <a:extLst>
              <a:ext uri="{FF2B5EF4-FFF2-40B4-BE49-F238E27FC236}">
                <a16:creationId xmlns:a16="http://schemas.microsoft.com/office/drawing/2014/main" id="{A532ED23-4167-600D-37FE-A4BB54737B6A}"/>
              </a:ext>
            </a:extLst>
          </p:cNvPr>
          <p:cNvSpPr/>
          <p:nvPr/>
        </p:nvSpPr>
        <p:spPr>
          <a:xfrm>
            <a:off x="9293828" y="1014082"/>
            <a:ext cx="2661007" cy="2637889"/>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Error Budgets</a:t>
            </a:r>
            <a:endParaRPr lang="en-IN" b="1" dirty="0"/>
          </a:p>
          <a:p>
            <a:pPr algn="ctr"/>
            <a:endParaRPr lang="en-IN" dirty="0"/>
          </a:p>
          <a:p>
            <a:pPr algn="ctr"/>
            <a:r>
              <a:rPr lang="en-US" dirty="0"/>
              <a:t>Balance between release velocity and reliability</a:t>
            </a:r>
            <a:endParaRPr lang="en-IN" dirty="0"/>
          </a:p>
        </p:txBody>
      </p:sp>
      <p:sp>
        <p:nvSpPr>
          <p:cNvPr id="2" name="TextBox 1">
            <a:extLst>
              <a:ext uri="{FF2B5EF4-FFF2-40B4-BE49-F238E27FC236}">
                <a16:creationId xmlns:a16="http://schemas.microsoft.com/office/drawing/2014/main" id="{E138FF71-3362-2329-EBA8-FCAE3CE62F4B}"/>
              </a:ext>
            </a:extLst>
          </p:cNvPr>
          <p:cNvSpPr txBox="1"/>
          <p:nvPr/>
        </p:nvSpPr>
        <p:spPr>
          <a:xfrm flipH="1">
            <a:off x="237165" y="4140486"/>
            <a:ext cx="11359360" cy="1477328"/>
          </a:xfrm>
          <a:prstGeom prst="rect">
            <a:avLst/>
          </a:prstGeom>
          <a:noFill/>
        </p:spPr>
        <p:txBody>
          <a:bodyPr wrap="square" rtlCol="0">
            <a:spAutoFit/>
          </a:bodyPr>
          <a:lstStyle/>
          <a:p>
            <a:r>
              <a:rPr lang="en-IN" b="1" dirty="0"/>
              <a:t>Example</a:t>
            </a:r>
            <a:r>
              <a:rPr lang="en-IN" dirty="0"/>
              <a:t>:</a:t>
            </a:r>
          </a:p>
          <a:p>
            <a:endParaRPr lang="en-IN" dirty="0"/>
          </a:p>
          <a:p>
            <a:pPr marL="742950" lvl="1" indent="-285750">
              <a:buFont typeface="Arial" panose="020B0604020202020204" pitchFamily="34" charset="0"/>
              <a:buChar char="•"/>
            </a:pPr>
            <a:r>
              <a:rPr lang="en-US" dirty="0"/>
              <a:t>SLA specifies that your systems will be available 99.95% of the time</a:t>
            </a:r>
          </a:p>
          <a:p>
            <a:pPr marL="742950" lvl="1" indent="-285750">
              <a:buFont typeface="Arial" panose="020B0604020202020204" pitchFamily="34" charset="0"/>
              <a:buChar char="•"/>
            </a:pPr>
            <a:r>
              <a:rPr lang="en-US" dirty="0"/>
              <a:t>SLO is likely 99.95% uptime or more, but not less than the SLA</a:t>
            </a:r>
          </a:p>
          <a:p>
            <a:pPr marL="742950" lvl="1" indent="-285750">
              <a:buFont typeface="Arial" panose="020B0604020202020204" pitchFamily="34" charset="0"/>
              <a:buChar char="•"/>
            </a:pPr>
            <a:r>
              <a:rPr lang="en-US" dirty="0"/>
              <a:t>SLI is the actual measurement of your uptime; it could be 99.96% or 99.99%.</a:t>
            </a:r>
            <a:endParaRPr lang="en-IN" dirty="0"/>
          </a:p>
        </p:txBody>
      </p:sp>
      <p:sp>
        <p:nvSpPr>
          <p:cNvPr id="7" name="TextBox 6">
            <a:extLst>
              <a:ext uri="{FF2B5EF4-FFF2-40B4-BE49-F238E27FC236}">
                <a16:creationId xmlns:a16="http://schemas.microsoft.com/office/drawing/2014/main" id="{F1C37031-AE59-AC85-91AF-15CEF9864BAD}"/>
              </a:ext>
            </a:extLst>
          </p:cNvPr>
          <p:cNvSpPr txBox="1"/>
          <p:nvPr/>
        </p:nvSpPr>
        <p:spPr>
          <a:xfrm>
            <a:off x="237165" y="5904079"/>
            <a:ext cx="11601509" cy="369332"/>
          </a:xfrm>
          <a:prstGeom prst="rect">
            <a:avLst/>
          </a:prstGeom>
          <a:noFill/>
        </p:spPr>
        <p:txBody>
          <a:bodyPr wrap="none" rtlCol="0">
            <a:spAutoFit/>
          </a:bodyPr>
          <a:lstStyle/>
          <a:p>
            <a:r>
              <a:rPr lang="en-US" dirty="0"/>
              <a:t>An </a:t>
            </a:r>
            <a:r>
              <a:rPr lang="en-US" b="1" dirty="0"/>
              <a:t>error budget</a:t>
            </a:r>
            <a:r>
              <a:rPr lang="en-US" dirty="0"/>
              <a:t> is the maximum amount of time that a technical system can fail without contractual consequences.</a:t>
            </a:r>
            <a:endParaRPr lang="en-IN" dirty="0"/>
          </a:p>
        </p:txBody>
      </p:sp>
    </p:spTree>
    <p:extLst>
      <p:ext uri="{BB962C8B-B14F-4D97-AF65-F5344CB8AC3E}">
        <p14:creationId xmlns:p14="http://schemas.microsoft.com/office/powerpoint/2010/main" val="2640658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52700"/>
            <a:ext cx="10956471" cy="652168"/>
          </a:xfrm>
        </p:spPr>
        <p:txBody>
          <a:bodyPr vert="horz" lIns="0" tIns="0" rIns="0" bIns="0" rtlCol="0" anchor="t" anchorCtr="0">
            <a:noAutofit/>
          </a:bodyPr>
          <a:lstStyle/>
          <a:p>
            <a:r>
              <a:rPr lang="en-US" sz="3600" b="1" dirty="0"/>
              <a:t>Golden Signals of SRE</a:t>
            </a:r>
          </a:p>
        </p:txBody>
      </p:sp>
      <p:sp>
        <p:nvSpPr>
          <p:cNvPr id="9" name="Rectangle: Rounded Corners 8">
            <a:extLst>
              <a:ext uri="{FF2B5EF4-FFF2-40B4-BE49-F238E27FC236}">
                <a16:creationId xmlns:a16="http://schemas.microsoft.com/office/drawing/2014/main" id="{5859BDC6-AE35-FEE8-FA8B-28FED2D53462}"/>
              </a:ext>
            </a:extLst>
          </p:cNvPr>
          <p:cNvSpPr/>
          <p:nvPr/>
        </p:nvSpPr>
        <p:spPr>
          <a:xfrm>
            <a:off x="8117441" y="1098876"/>
            <a:ext cx="2033426" cy="7780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Saturation</a:t>
            </a:r>
          </a:p>
        </p:txBody>
      </p:sp>
      <p:sp>
        <p:nvSpPr>
          <p:cNvPr id="17" name="Rectangle: Rounded Corners 16">
            <a:extLst>
              <a:ext uri="{FF2B5EF4-FFF2-40B4-BE49-F238E27FC236}">
                <a16:creationId xmlns:a16="http://schemas.microsoft.com/office/drawing/2014/main" id="{2C14D224-8077-F8FE-0474-68417A00FF6C}"/>
              </a:ext>
            </a:extLst>
          </p:cNvPr>
          <p:cNvSpPr/>
          <p:nvPr/>
        </p:nvSpPr>
        <p:spPr>
          <a:xfrm>
            <a:off x="8117441" y="2355220"/>
            <a:ext cx="2033426" cy="7780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Errors</a:t>
            </a:r>
          </a:p>
        </p:txBody>
      </p:sp>
      <p:sp>
        <p:nvSpPr>
          <p:cNvPr id="18" name="Rectangle: Rounded Corners 17">
            <a:extLst>
              <a:ext uri="{FF2B5EF4-FFF2-40B4-BE49-F238E27FC236}">
                <a16:creationId xmlns:a16="http://schemas.microsoft.com/office/drawing/2014/main" id="{AEF79254-556F-16F2-8561-A41FDA7D21C8}"/>
              </a:ext>
            </a:extLst>
          </p:cNvPr>
          <p:cNvSpPr/>
          <p:nvPr/>
        </p:nvSpPr>
        <p:spPr>
          <a:xfrm>
            <a:off x="8117441" y="3611564"/>
            <a:ext cx="2033426" cy="7780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Traffic</a:t>
            </a:r>
          </a:p>
        </p:txBody>
      </p:sp>
      <p:sp>
        <p:nvSpPr>
          <p:cNvPr id="19" name="Rectangle: Rounded Corners 18">
            <a:extLst>
              <a:ext uri="{FF2B5EF4-FFF2-40B4-BE49-F238E27FC236}">
                <a16:creationId xmlns:a16="http://schemas.microsoft.com/office/drawing/2014/main" id="{3BE8B19C-3F41-A9C0-43BD-5757E8D4DB8E}"/>
              </a:ext>
            </a:extLst>
          </p:cNvPr>
          <p:cNvSpPr/>
          <p:nvPr/>
        </p:nvSpPr>
        <p:spPr>
          <a:xfrm>
            <a:off x="8117441" y="4867908"/>
            <a:ext cx="2033426" cy="7780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Latency</a:t>
            </a:r>
          </a:p>
        </p:txBody>
      </p:sp>
      <p:sp>
        <p:nvSpPr>
          <p:cNvPr id="20" name="TextBox 19">
            <a:extLst>
              <a:ext uri="{FF2B5EF4-FFF2-40B4-BE49-F238E27FC236}">
                <a16:creationId xmlns:a16="http://schemas.microsoft.com/office/drawing/2014/main" id="{16905550-1833-BD82-A8AC-36974B0B48CD}"/>
              </a:ext>
            </a:extLst>
          </p:cNvPr>
          <p:cNvSpPr txBox="1"/>
          <p:nvPr/>
        </p:nvSpPr>
        <p:spPr>
          <a:xfrm>
            <a:off x="523982" y="1715784"/>
            <a:ext cx="5219272" cy="3693319"/>
          </a:xfrm>
          <a:prstGeom prst="rect">
            <a:avLst/>
          </a:prstGeom>
          <a:noFill/>
        </p:spPr>
        <p:txBody>
          <a:bodyPr wrap="square" rtlCol="0">
            <a:spAutoFit/>
          </a:bodyPr>
          <a:lstStyle/>
          <a:p>
            <a:r>
              <a:rPr lang="en-IN" dirty="0"/>
              <a:t>Case for better monitoring:</a:t>
            </a:r>
          </a:p>
          <a:p>
            <a:endParaRPr lang="en-IN" dirty="0"/>
          </a:p>
          <a:p>
            <a:pPr marL="285750" indent="-285750">
              <a:buFont typeface="Arial" panose="020B0604020202020204" pitchFamily="34" charset="0"/>
              <a:buChar char="•"/>
            </a:pPr>
            <a:r>
              <a:rPr lang="en-IN" dirty="0"/>
              <a:t>Focus more on uptime to deduce availability vs user experience</a:t>
            </a:r>
          </a:p>
          <a:p>
            <a:pPr marL="285750" indent="-285750">
              <a:buFont typeface="Arial" panose="020B0604020202020204" pitchFamily="34" charset="0"/>
              <a:buChar char="•"/>
            </a:pPr>
            <a:r>
              <a:rPr lang="en-IN" dirty="0"/>
              <a:t>Monitoring system metrics like CPU, memory , storage etc. are good indicators, however, may not be relevant for client experience</a:t>
            </a:r>
          </a:p>
          <a:p>
            <a:pPr marL="285750" indent="-285750">
              <a:buFont typeface="Arial" panose="020B0604020202020204" pitchFamily="34" charset="0"/>
              <a:buChar char="•"/>
            </a:pPr>
            <a:r>
              <a:rPr lang="en-IN" dirty="0"/>
              <a:t>Monitor only those metrics (KPIs) that are really required. Ex: MTBF, MTTR</a:t>
            </a:r>
          </a:p>
          <a:p>
            <a:pPr marL="285750" indent="-285750">
              <a:buFont typeface="Arial" panose="020B0604020202020204" pitchFamily="34" charset="0"/>
              <a:buChar char="•"/>
            </a:pPr>
            <a:endParaRPr lang="en-IN" dirty="0"/>
          </a:p>
          <a:p>
            <a:endParaRPr lang="en-IN" dirty="0"/>
          </a:p>
          <a:p>
            <a:r>
              <a:rPr lang="en-IN" dirty="0"/>
              <a:t>It’s better to monitor metrics such as latency – are the response times taking longer?</a:t>
            </a:r>
          </a:p>
        </p:txBody>
      </p:sp>
    </p:spTree>
    <p:extLst>
      <p:ext uri="{BB962C8B-B14F-4D97-AF65-F5344CB8AC3E}">
        <p14:creationId xmlns:p14="http://schemas.microsoft.com/office/powerpoint/2010/main" val="1122792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Monitoring</a:t>
            </a:r>
          </a:p>
        </p:txBody>
      </p:sp>
      <p:sp>
        <p:nvSpPr>
          <p:cNvPr id="20" name="TextBox 19">
            <a:extLst>
              <a:ext uri="{FF2B5EF4-FFF2-40B4-BE49-F238E27FC236}">
                <a16:creationId xmlns:a16="http://schemas.microsoft.com/office/drawing/2014/main" id="{16905550-1833-BD82-A8AC-36974B0B48CD}"/>
              </a:ext>
            </a:extLst>
          </p:cNvPr>
          <p:cNvSpPr txBox="1"/>
          <p:nvPr/>
        </p:nvSpPr>
        <p:spPr>
          <a:xfrm>
            <a:off x="381001" y="1078786"/>
            <a:ext cx="11167152" cy="5078313"/>
          </a:xfrm>
          <a:prstGeom prst="rect">
            <a:avLst/>
          </a:prstGeom>
          <a:noFill/>
        </p:spPr>
        <p:txBody>
          <a:bodyPr wrap="square" rtlCol="0">
            <a:spAutoFit/>
          </a:bodyPr>
          <a:lstStyle/>
          <a:p>
            <a:r>
              <a:rPr lang="en-IN" b="1" dirty="0"/>
              <a:t>Monitoring</a:t>
            </a:r>
            <a:r>
              <a:rPr lang="en-IN" dirty="0"/>
              <a:t> is the process of </a:t>
            </a:r>
            <a:r>
              <a:rPr lang="en-US" dirty="0"/>
              <a:t>continuously collecting and analyzing data to ensure that systems are functioning as expected. It involves tracking specific metrics and alerts to detect anomalies and issues.</a:t>
            </a:r>
          </a:p>
          <a:p>
            <a:endParaRPr lang="en-US" dirty="0"/>
          </a:p>
          <a:p>
            <a:r>
              <a:rPr lang="en-IN" b="1" dirty="0"/>
              <a:t>Key characteristics:</a:t>
            </a:r>
          </a:p>
          <a:p>
            <a:pPr marL="742950" lvl="1" indent="-285750">
              <a:buFont typeface="Arial" panose="020B0604020202020204" pitchFamily="34" charset="0"/>
              <a:buChar char="•"/>
            </a:pPr>
            <a:r>
              <a:rPr lang="en-IN" dirty="0"/>
              <a:t>Predefined metrics</a:t>
            </a:r>
          </a:p>
          <a:p>
            <a:pPr marL="742950" lvl="1" indent="-285750">
              <a:buFont typeface="Arial" panose="020B0604020202020204" pitchFamily="34" charset="0"/>
              <a:buChar char="•"/>
            </a:pPr>
            <a:r>
              <a:rPr lang="en-IN" dirty="0"/>
              <a:t>Alerting</a:t>
            </a:r>
          </a:p>
          <a:p>
            <a:pPr marL="742950" lvl="1" indent="-285750">
              <a:buFont typeface="Arial" panose="020B0604020202020204" pitchFamily="34" charset="0"/>
              <a:buChar char="•"/>
            </a:pPr>
            <a:r>
              <a:rPr lang="en-IN" dirty="0"/>
              <a:t>Historical data</a:t>
            </a:r>
          </a:p>
          <a:p>
            <a:pPr marL="742950" lvl="1" indent="-285750">
              <a:buFont typeface="Arial" panose="020B0604020202020204" pitchFamily="34" charset="0"/>
              <a:buChar char="•"/>
            </a:pPr>
            <a:r>
              <a:rPr lang="en-IN" dirty="0"/>
              <a:t>Reactive</a:t>
            </a:r>
          </a:p>
          <a:p>
            <a:pPr marL="285750" indent="-285750">
              <a:buFont typeface="Arial" panose="020B0604020202020204" pitchFamily="34" charset="0"/>
              <a:buChar char="•"/>
            </a:pPr>
            <a:endParaRPr lang="en-IN" dirty="0"/>
          </a:p>
          <a:p>
            <a:r>
              <a:rPr lang="en-IN" b="1" dirty="0"/>
              <a:t>Use cases:</a:t>
            </a:r>
          </a:p>
          <a:p>
            <a:pPr marL="742950" lvl="1" indent="-285750">
              <a:buFont typeface="Arial" panose="020B0604020202020204" pitchFamily="34" charset="0"/>
              <a:buChar char="•"/>
            </a:pPr>
            <a:r>
              <a:rPr lang="en-IN" dirty="0"/>
              <a:t>System health checks</a:t>
            </a:r>
          </a:p>
          <a:p>
            <a:pPr marL="742950" lvl="1" indent="-285750">
              <a:buFont typeface="Arial" panose="020B0604020202020204" pitchFamily="34" charset="0"/>
              <a:buChar char="•"/>
            </a:pPr>
            <a:r>
              <a:rPr lang="en-IN" dirty="0"/>
              <a:t>Performance tracking</a:t>
            </a:r>
          </a:p>
          <a:p>
            <a:pPr marL="742950" lvl="1" indent="-285750">
              <a:buFont typeface="Arial" panose="020B0604020202020204" pitchFamily="34" charset="0"/>
              <a:buChar char="•"/>
            </a:pPr>
            <a:r>
              <a:rPr lang="en-IN" dirty="0"/>
              <a:t>Incident detection</a:t>
            </a:r>
          </a:p>
          <a:p>
            <a:pPr marL="285750" indent="-285750">
              <a:buFont typeface="Arial" panose="020B0604020202020204" pitchFamily="34" charset="0"/>
              <a:buChar char="•"/>
            </a:pPr>
            <a:endParaRPr lang="en-IN" dirty="0"/>
          </a:p>
          <a:p>
            <a:r>
              <a:rPr lang="en-IN" b="1" dirty="0"/>
              <a:t>Examples of monitoring tools:</a:t>
            </a:r>
          </a:p>
          <a:p>
            <a:pPr marL="742950" lvl="1" indent="-285750">
              <a:buFont typeface="Arial" panose="020B0604020202020204" pitchFamily="34" charset="0"/>
              <a:buChar char="•"/>
            </a:pPr>
            <a:r>
              <a:rPr lang="en-IN" dirty="0"/>
              <a:t>Prometheus</a:t>
            </a:r>
          </a:p>
          <a:p>
            <a:pPr marL="742950" lvl="1" indent="-285750">
              <a:buFont typeface="Arial" panose="020B0604020202020204" pitchFamily="34" charset="0"/>
              <a:buChar char="•"/>
            </a:pPr>
            <a:r>
              <a:rPr lang="en-IN" dirty="0"/>
              <a:t>Nagios</a:t>
            </a:r>
          </a:p>
          <a:p>
            <a:pPr marL="742950" lvl="1" indent="-285750">
              <a:buFont typeface="Arial" panose="020B0604020202020204" pitchFamily="34" charset="0"/>
              <a:buChar char="•"/>
            </a:pPr>
            <a:r>
              <a:rPr lang="en-IN" dirty="0"/>
              <a:t>Datadog</a:t>
            </a:r>
          </a:p>
        </p:txBody>
      </p:sp>
      <p:pic>
        <p:nvPicPr>
          <p:cNvPr id="2050" name="Picture 2">
            <a:extLst>
              <a:ext uri="{FF2B5EF4-FFF2-40B4-BE49-F238E27FC236}">
                <a16:creationId xmlns:a16="http://schemas.microsoft.com/office/drawing/2014/main" id="{7DCCDE47-CE5F-4BAB-0573-E61B57B2D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467" y="2001202"/>
            <a:ext cx="7361325" cy="415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447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Observability</a:t>
            </a:r>
          </a:p>
        </p:txBody>
      </p:sp>
      <p:sp>
        <p:nvSpPr>
          <p:cNvPr id="20" name="TextBox 19">
            <a:extLst>
              <a:ext uri="{FF2B5EF4-FFF2-40B4-BE49-F238E27FC236}">
                <a16:creationId xmlns:a16="http://schemas.microsoft.com/office/drawing/2014/main" id="{16905550-1833-BD82-A8AC-36974B0B48CD}"/>
              </a:ext>
            </a:extLst>
          </p:cNvPr>
          <p:cNvSpPr txBox="1"/>
          <p:nvPr/>
        </p:nvSpPr>
        <p:spPr>
          <a:xfrm>
            <a:off x="381001" y="955498"/>
            <a:ext cx="11167152" cy="5632311"/>
          </a:xfrm>
          <a:prstGeom prst="rect">
            <a:avLst/>
          </a:prstGeom>
          <a:noFill/>
        </p:spPr>
        <p:txBody>
          <a:bodyPr wrap="square" rtlCol="0">
            <a:spAutoFit/>
          </a:bodyPr>
          <a:lstStyle/>
          <a:p>
            <a:r>
              <a:rPr lang="en-US" b="1" dirty="0"/>
              <a:t>Observability </a:t>
            </a:r>
            <a:r>
              <a:rPr lang="en-US" dirty="0"/>
              <a:t>refers to the ability to understand the internal state of a system based on the external outputs (e.g., logs, metrics, and traces). It involves gaining insights into the system's behavior and diagnosing issues by analyzing various signals.</a:t>
            </a:r>
          </a:p>
          <a:p>
            <a:endParaRPr lang="en-US" dirty="0"/>
          </a:p>
          <a:p>
            <a:r>
              <a:rPr lang="en-IN" b="1" dirty="0"/>
              <a:t>Key characteristics:</a:t>
            </a:r>
          </a:p>
          <a:p>
            <a:pPr marL="742950" lvl="1" indent="-285750">
              <a:buFont typeface="Arial" panose="020B0604020202020204" pitchFamily="34" charset="0"/>
              <a:buChar char="•"/>
            </a:pPr>
            <a:r>
              <a:rPr lang="en-IN" dirty="0"/>
              <a:t>Metrics</a:t>
            </a:r>
          </a:p>
          <a:p>
            <a:pPr marL="742950" lvl="1" indent="-285750">
              <a:buFont typeface="Arial" panose="020B0604020202020204" pitchFamily="34" charset="0"/>
              <a:buChar char="•"/>
            </a:pPr>
            <a:r>
              <a:rPr lang="en-IN" dirty="0"/>
              <a:t>Events</a:t>
            </a:r>
          </a:p>
          <a:p>
            <a:pPr marL="742950" lvl="1" indent="-285750">
              <a:buFont typeface="Arial" panose="020B0604020202020204" pitchFamily="34" charset="0"/>
              <a:buChar char="•"/>
            </a:pPr>
            <a:r>
              <a:rPr lang="en-IN" dirty="0"/>
              <a:t>Logs</a:t>
            </a:r>
          </a:p>
          <a:p>
            <a:pPr marL="742950" lvl="1" indent="-285750">
              <a:buFont typeface="Arial" panose="020B0604020202020204" pitchFamily="34" charset="0"/>
              <a:buChar char="•"/>
            </a:pPr>
            <a:r>
              <a:rPr lang="en-IN" dirty="0"/>
              <a:t>Traces</a:t>
            </a:r>
          </a:p>
          <a:p>
            <a:pPr marL="742950" lvl="1" indent="-285750">
              <a:buFont typeface="Arial" panose="020B0604020202020204" pitchFamily="34" charset="0"/>
              <a:buChar char="•"/>
            </a:pPr>
            <a:r>
              <a:rPr lang="en-IN" dirty="0"/>
              <a:t>Proactive</a:t>
            </a:r>
          </a:p>
          <a:p>
            <a:pPr marL="285750" indent="-285750">
              <a:buFont typeface="Arial" panose="020B0604020202020204" pitchFamily="34" charset="0"/>
              <a:buChar char="•"/>
            </a:pPr>
            <a:endParaRPr lang="en-IN" dirty="0"/>
          </a:p>
          <a:p>
            <a:r>
              <a:rPr lang="en-IN" b="1" dirty="0"/>
              <a:t>Use cases:</a:t>
            </a:r>
          </a:p>
          <a:p>
            <a:pPr marL="742950" lvl="1" indent="-285750">
              <a:buFont typeface="Arial" panose="020B0604020202020204" pitchFamily="34" charset="0"/>
              <a:buChar char="•"/>
            </a:pPr>
            <a:r>
              <a:rPr lang="en-IN" dirty="0"/>
              <a:t>Root Cause Analysis (RCA)</a:t>
            </a:r>
          </a:p>
          <a:p>
            <a:pPr marL="742950" lvl="1" indent="-285750">
              <a:buFont typeface="Arial" panose="020B0604020202020204" pitchFamily="34" charset="0"/>
              <a:buChar char="•"/>
            </a:pPr>
            <a:r>
              <a:rPr lang="en-IN" dirty="0"/>
              <a:t>Debugging</a:t>
            </a:r>
          </a:p>
          <a:p>
            <a:pPr marL="742950" lvl="1" indent="-285750">
              <a:buFont typeface="Arial" panose="020B0604020202020204" pitchFamily="34" charset="0"/>
              <a:buChar char="•"/>
            </a:pPr>
            <a:r>
              <a:rPr lang="en-IN" dirty="0"/>
              <a:t>Performance tuning</a:t>
            </a:r>
          </a:p>
          <a:p>
            <a:pPr marL="285750" indent="-285750">
              <a:buFont typeface="Arial" panose="020B0604020202020204" pitchFamily="34" charset="0"/>
              <a:buChar char="•"/>
            </a:pPr>
            <a:endParaRPr lang="en-IN" dirty="0"/>
          </a:p>
          <a:p>
            <a:r>
              <a:rPr lang="en-IN" b="1" dirty="0"/>
              <a:t>Examples of observability tools:</a:t>
            </a:r>
          </a:p>
          <a:p>
            <a:pPr marL="742950" lvl="1" indent="-285750">
              <a:buFont typeface="Arial" panose="020B0604020202020204" pitchFamily="34" charset="0"/>
              <a:buChar char="•"/>
            </a:pPr>
            <a:r>
              <a:rPr lang="en-IN" dirty="0"/>
              <a:t>Grafana</a:t>
            </a:r>
          </a:p>
          <a:p>
            <a:pPr marL="742950" lvl="1" indent="-285750">
              <a:buFont typeface="Arial" panose="020B0604020202020204" pitchFamily="34" charset="0"/>
              <a:buChar char="•"/>
            </a:pPr>
            <a:r>
              <a:rPr lang="en-IN" dirty="0"/>
              <a:t>ELK (Elastic)</a:t>
            </a:r>
          </a:p>
          <a:p>
            <a:pPr marL="742950" lvl="1" indent="-285750">
              <a:buFont typeface="Arial" panose="020B0604020202020204" pitchFamily="34" charset="0"/>
              <a:buChar char="•"/>
            </a:pPr>
            <a:r>
              <a:rPr lang="en-IN" dirty="0"/>
              <a:t>OpenTelemetry</a:t>
            </a:r>
          </a:p>
        </p:txBody>
      </p:sp>
      <p:pic>
        <p:nvPicPr>
          <p:cNvPr id="3074" name="Picture 2">
            <a:extLst>
              <a:ext uri="{FF2B5EF4-FFF2-40B4-BE49-F238E27FC236}">
                <a16:creationId xmlns:a16="http://schemas.microsoft.com/office/drawing/2014/main" id="{8CB9B0F6-F4B9-0D4B-3A7A-1462185D5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310" y="1846285"/>
            <a:ext cx="6958173" cy="4638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104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93794"/>
            <a:ext cx="10956471" cy="652168"/>
          </a:xfrm>
        </p:spPr>
        <p:txBody>
          <a:bodyPr vert="horz" lIns="0" tIns="0" rIns="0" bIns="0" rtlCol="0" anchor="t" anchorCtr="0">
            <a:noAutofit/>
          </a:bodyPr>
          <a:lstStyle/>
          <a:p>
            <a:r>
              <a:rPr lang="en-US" sz="3600" b="1" dirty="0"/>
              <a:t>Outputs of a good monitoring system</a:t>
            </a:r>
          </a:p>
        </p:txBody>
      </p:sp>
      <p:sp>
        <p:nvSpPr>
          <p:cNvPr id="20" name="TextBox 19">
            <a:extLst>
              <a:ext uri="{FF2B5EF4-FFF2-40B4-BE49-F238E27FC236}">
                <a16:creationId xmlns:a16="http://schemas.microsoft.com/office/drawing/2014/main" id="{16905550-1833-BD82-A8AC-36974B0B48CD}"/>
              </a:ext>
            </a:extLst>
          </p:cNvPr>
          <p:cNvSpPr txBox="1"/>
          <p:nvPr/>
        </p:nvSpPr>
        <p:spPr>
          <a:xfrm>
            <a:off x="1336496" y="2324890"/>
            <a:ext cx="3759485" cy="2308324"/>
          </a:xfrm>
          <a:prstGeom prst="rect">
            <a:avLst/>
          </a:prstGeom>
          <a:noFill/>
        </p:spPr>
        <p:txBody>
          <a:bodyPr wrap="square" rtlCol="0">
            <a:spAutoFit/>
          </a:bodyPr>
          <a:lstStyle/>
          <a:p>
            <a:pPr algn="r"/>
            <a:r>
              <a:rPr lang="en-US" sz="2400" dirty="0"/>
              <a:t>A carefully crafted </a:t>
            </a:r>
            <a:r>
              <a:rPr lang="en-US" sz="2400" b="1" dirty="0"/>
              <a:t>monitoring system</a:t>
            </a:r>
            <a:r>
              <a:rPr lang="en-US" sz="2400" dirty="0"/>
              <a:t> should be able to distinguish urgent requests from important ones, and only alert when required</a:t>
            </a:r>
          </a:p>
        </p:txBody>
      </p:sp>
      <p:pic>
        <p:nvPicPr>
          <p:cNvPr id="3" name="Picture 2">
            <a:extLst>
              <a:ext uri="{FF2B5EF4-FFF2-40B4-BE49-F238E27FC236}">
                <a16:creationId xmlns:a16="http://schemas.microsoft.com/office/drawing/2014/main" id="{B580FB49-4EFA-7575-F18B-156F7286FBE9}"/>
              </a:ext>
            </a:extLst>
          </p:cNvPr>
          <p:cNvPicPr>
            <a:picLocks noChangeAspect="1"/>
          </p:cNvPicPr>
          <p:nvPr/>
        </p:nvPicPr>
        <p:blipFill>
          <a:blip r:embed="rId3"/>
          <a:stretch>
            <a:fillRect/>
          </a:stretch>
        </p:blipFill>
        <p:spPr>
          <a:xfrm>
            <a:off x="5190857" y="1453468"/>
            <a:ext cx="5442896" cy="4051168"/>
          </a:xfrm>
          <a:prstGeom prst="rect">
            <a:avLst/>
          </a:prstGeom>
        </p:spPr>
      </p:pic>
    </p:spTree>
    <p:extLst>
      <p:ext uri="{BB962C8B-B14F-4D97-AF65-F5344CB8AC3E}">
        <p14:creationId xmlns:p14="http://schemas.microsoft.com/office/powerpoint/2010/main" val="1526568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93794"/>
            <a:ext cx="10956471" cy="652168"/>
          </a:xfrm>
        </p:spPr>
        <p:txBody>
          <a:bodyPr vert="horz" lIns="0" tIns="0" rIns="0" bIns="0" rtlCol="0" anchor="t" anchorCtr="0">
            <a:noAutofit/>
          </a:bodyPr>
          <a:lstStyle/>
          <a:p>
            <a:r>
              <a:rPr lang="en-US" sz="3600" b="1" dirty="0"/>
              <a:t>Alert design considerations</a:t>
            </a:r>
          </a:p>
        </p:txBody>
      </p:sp>
      <p:sp>
        <p:nvSpPr>
          <p:cNvPr id="20" name="TextBox 19">
            <a:extLst>
              <a:ext uri="{FF2B5EF4-FFF2-40B4-BE49-F238E27FC236}">
                <a16:creationId xmlns:a16="http://schemas.microsoft.com/office/drawing/2014/main" id="{16905550-1833-BD82-A8AC-36974B0B48CD}"/>
              </a:ext>
            </a:extLst>
          </p:cNvPr>
          <p:cNvSpPr txBox="1"/>
          <p:nvPr/>
        </p:nvSpPr>
        <p:spPr>
          <a:xfrm>
            <a:off x="288532" y="1071443"/>
            <a:ext cx="10869203" cy="461665"/>
          </a:xfrm>
          <a:prstGeom prst="rect">
            <a:avLst/>
          </a:prstGeom>
          <a:noFill/>
        </p:spPr>
        <p:txBody>
          <a:bodyPr wrap="square" rtlCol="0">
            <a:spAutoFit/>
          </a:bodyPr>
          <a:lstStyle/>
          <a:p>
            <a:r>
              <a:rPr lang="en-US" sz="2400" dirty="0">
                <a:solidFill>
                  <a:schemeClr val="bg2">
                    <a:lumMod val="50000"/>
                  </a:schemeClr>
                </a:solidFill>
              </a:rPr>
              <a:t>An alert should only be paged for urgent requests that need immediate attention</a:t>
            </a:r>
          </a:p>
        </p:txBody>
      </p:sp>
      <p:sp>
        <p:nvSpPr>
          <p:cNvPr id="2" name="TextBox 1">
            <a:extLst>
              <a:ext uri="{FF2B5EF4-FFF2-40B4-BE49-F238E27FC236}">
                <a16:creationId xmlns:a16="http://schemas.microsoft.com/office/drawing/2014/main" id="{D7C5D522-C0DC-147C-EB84-610391DE22A7}"/>
              </a:ext>
            </a:extLst>
          </p:cNvPr>
          <p:cNvSpPr txBox="1"/>
          <p:nvPr/>
        </p:nvSpPr>
        <p:spPr>
          <a:xfrm>
            <a:off x="493160" y="2188395"/>
            <a:ext cx="6246687" cy="2862322"/>
          </a:xfrm>
          <a:prstGeom prst="rect">
            <a:avLst/>
          </a:prstGeom>
          <a:noFill/>
        </p:spPr>
        <p:txBody>
          <a:bodyPr wrap="square" rtlCol="0">
            <a:spAutoFit/>
          </a:bodyPr>
          <a:lstStyle/>
          <a:p>
            <a:r>
              <a:rPr lang="en-IN" b="1" dirty="0"/>
              <a:t>Common issues:</a:t>
            </a:r>
          </a:p>
          <a:p>
            <a:pPr marL="285750" indent="-285750">
              <a:buFont typeface="Arial" panose="020B0604020202020204" pitchFamily="34" charset="0"/>
              <a:buChar char="•"/>
            </a:pPr>
            <a:r>
              <a:rPr lang="en-IN" dirty="0"/>
              <a:t>Not all alerts are helpful</a:t>
            </a:r>
          </a:p>
          <a:p>
            <a:pPr marL="285750" indent="-285750">
              <a:buFont typeface="Arial" panose="020B0604020202020204" pitchFamily="34" charset="0"/>
              <a:buChar char="•"/>
            </a:pPr>
            <a:r>
              <a:rPr lang="en-IN" dirty="0"/>
              <a:t>Alerts are not maintained regularly to keep up with functionality being rolled out</a:t>
            </a:r>
          </a:p>
          <a:p>
            <a:pPr marL="285750" indent="-285750">
              <a:buFont typeface="Arial" panose="020B0604020202020204" pitchFamily="34" charset="0"/>
              <a:buChar char="•"/>
            </a:pPr>
            <a:endParaRPr lang="en-IN" dirty="0"/>
          </a:p>
          <a:p>
            <a:r>
              <a:rPr lang="en-IN" b="1" dirty="0"/>
              <a:t>Good practices:</a:t>
            </a:r>
          </a:p>
          <a:p>
            <a:pPr marL="285750" indent="-285750">
              <a:buFont typeface="Arial" panose="020B0604020202020204" pitchFamily="34" charset="0"/>
              <a:buChar char="•"/>
            </a:pPr>
            <a:r>
              <a:rPr lang="en-IN" dirty="0"/>
              <a:t>Measure the system along with all parts, but alert only on problems that will cause or is causing end-user pain this helps to reduce “alert fatigue”</a:t>
            </a:r>
          </a:p>
          <a:p>
            <a:pPr marL="285750" indent="-285750">
              <a:buFont typeface="Arial" panose="020B0604020202020204" pitchFamily="34" charset="0"/>
              <a:buChar char="•"/>
            </a:pPr>
            <a:r>
              <a:rPr lang="en-IN" dirty="0"/>
              <a:t>Alerts should be actionable</a:t>
            </a:r>
          </a:p>
        </p:txBody>
      </p:sp>
      <p:pic>
        <p:nvPicPr>
          <p:cNvPr id="5" name="Graphic 4" descr="Warning outline">
            <a:extLst>
              <a:ext uri="{FF2B5EF4-FFF2-40B4-BE49-F238E27FC236}">
                <a16:creationId xmlns:a16="http://schemas.microsoft.com/office/drawing/2014/main" id="{3BF28F56-0358-A476-04F3-D76CCBF038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42953" y="2622479"/>
            <a:ext cx="1980344" cy="1980344"/>
          </a:xfrm>
          <a:prstGeom prst="rect">
            <a:avLst/>
          </a:prstGeom>
        </p:spPr>
      </p:pic>
    </p:spTree>
    <p:extLst>
      <p:ext uri="{BB962C8B-B14F-4D97-AF65-F5344CB8AC3E}">
        <p14:creationId xmlns:p14="http://schemas.microsoft.com/office/powerpoint/2010/main" val="1934885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93794"/>
            <a:ext cx="10956471" cy="652168"/>
          </a:xfrm>
        </p:spPr>
        <p:txBody>
          <a:bodyPr vert="horz" lIns="0" tIns="0" rIns="0" bIns="0" rtlCol="0" anchor="t" anchorCtr="0">
            <a:noAutofit/>
          </a:bodyPr>
          <a:lstStyle/>
          <a:p>
            <a:r>
              <a:rPr lang="en-US" sz="3600" b="1" dirty="0"/>
              <a:t>Incident Response</a:t>
            </a:r>
          </a:p>
        </p:txBody>
      </p:sp>
      <p:sp>
        <p:nvSpPr>
          <p:cNvPr id="20" name="TextBox 19">
            <a:extLst>
              <a:ext uri="{FF2B5EF4-FFF2-40B4-BE49-F238E27FC236}">
                <a16:creationId xmlns:a16="http://schemas.microsoft.com/office/drawing/2014/main" id="{16905550-1833-BD82-A8AC-36974B0B48CD}"/>
              </a:ext>
            </a:extLst>
          </p:cNvPr>
          <p:cNvSpPr txBox="1"/>
          <p:nvPr/>
        </p:nvSpPr>
        <p:spPr>
          <a:xfrm>
            <a:off x="288532" y="1071443"/>
            <a:ext cx="10869203" cy="461665"/>
          </a:xfrm>
          <a:prstGeom prst="rect">
            <a:avLst/>
          </a:prstGeom>
          <a:noFill/>
        </p:spPr>
        <p:txBody>
          <a:bodyPr wrap="square" rtlCol="0">
            <a:spAutoFit/>
          </a:bodyPr>
          <a:lstStyle/>
          <a:p>
            <a:r>
              <a:rPr lang="en-US" sz="2400" dirty="0">
                <a:solidFill>
                  <a:schemeClr val="bg2">
                    <a:lumMod val="50000"/>
                  </a:schemeClr>
                </a:solidFill>
              </a:rPr>
              <a:t>Effective incident response process increases user trust</a:t>
            </a:r>
          </a:p>
        </p:txBody>
      </p:sp>
      <p:sp>
        <p:nvSpPr>
          <p:cNvPr id="2" name="TextBox 1">
            <a:extLst>
              <a:ext uri="{FF2B5EF4-FFF2-40B4-BE49-F238E27FC236}">
                <a16:creationId xmlns:a16="http://schemas.microsoft.com/office/drawing/2014/main" id="{D7C5D522-C0DC-147C-EB84-610391DE22A7}"/>
              </a:ext>
            </a:extLst>
          </p:cNvPr>
          <p:cNvSpPr txBox="1"/>
          <p:nvPr/>
        </p:nvSpPr>
        <p:spPr>
          <a:xfrm>
            <a:off x="381001" y="2731834"/>
            <a:ext cx="6246687" cy="2031325"/>
          </a:xfrm>
          <a:prstGeom prst="rect">
            <a:avLst/>
          </a:prstGeom>
          <a:noFill/>
        </p:spPr>
        <p:txBody>
          <a:bodyPr wrap="square" rtlCol="0">
            <a:spAutoFit/>
          </a:bodyPr>
          <a:lstStyle/>
          <a:p>
            <a:r>
              <a:rPr lang="en-IN" dirty="0"/>
              <a:t>Users don’t always expect a service to be perfect.</a:t>
            </a:r>
          </a:p>
          <a:p>
            <a:endParaRPr lang="en-IN" dirty="0"/>
          </a:p>
          <a:p>
            <a:r>
              <a:rPr lang="en-IN" dirty="0"/>
              <a:t>However, they expect their service to be transparent, fast to resolve issues, and learns quickly from mistakes.</a:t>
            </a:r>
          </a:p>
          <a:p>
            <a:endParaRPr lang="en-IN" dirty="0"/>
          </a:p>
          <a:p>
            <a:r>
              <a:rPr lang="en-IN" b="1" dirty="0"/>
              <a:t>Incident Response</a:t>
            </a:r>
            <a:r>
              <a:rPr lang="en-IN" dirty="0"/>
              <a:t> helps to create that kind of trust when there is a crisis.</a:t>
            </a:r>
          </a:p>
        </p:txBody>
      </p:sp>
      <p:pic>
        <p:nvPicPr>
          <p:cNvPr id="4" name="Picture 3">
            <a:extLst>
              <a:ext uri="{FF2B5EF4-FFF2-40B4-BE49-F238E27FC236}">
                <a16:creationId xmlns:a16="http://schemas.microsoft.com/office/drawing/2014/main" id="{9EF247CA-3CCF-2468-099C-E2A44D22C64F}"/>
              </a:ext>
            </a:extLst>
          </p:cNvPr>
          <p:cNvPicPr>
            <a:picLocks noChangeAspect="1"/>
          </p:cNvPicPr>
          <p:nvPr/>
        </p:nvPicPr>
        <p:blipFill>
          <a:blip r:embed="rId3"/>
          <a:stretch>
            <a:fillRect/>
          </a:stretch>
        </p:blipFill>
        <p:spPr>
          <a:xfrm>
            <a:off x="7068513" y="1799635"/>
            <a:ext cx="3829050" cy="3895725"/>
          </a:xfrm>
          <a:prstGeom prst="rect">
            <a:avLst/>
          </a:prstGeom>
        </p:spPr>
      </p:pic>
    </p:spTree>
    <p:extLst>
      <p:ext uri="{BB962C8B-B14F-4D97-AF65-F5344CB8AC3E}">
        <p14:creationId xmlns:p14="http://schemas.microsoft.com/office/powerpoint/2010/main" val="1974041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93794"/>
            <a:ext cx="10956471" cy="652168"/>
          </a:xfrm>
        </p:spPr>
        <p:txBody>
          <a:bodyPr vert="horz" lIns="0" tIns="0" rIns="0" bIns="0" rtlCol="0" anchor="t" anchorCtr="0">
            <a:noAutofit/>
          </a:bodyPr>
          <a:lstStyle/>
          <a:p>
            <a:r>
              <a:rPr lang="en-US" sz="3600" b="1" dirty="0"/>
              <a:t>Structured Incident Response</a:t>
            </a:r>
          </a:p>
        </p:txBody>
      </p:sp>
      <p:sp>
        <p:nvSpPr>
          <p:cNvPr id="20" name="TextBox 19">
            <a:extLst>
              <a:ext uri="{FF2B5EF4-FFF2-40B4-BE49-F238E27FC236}">
                <a16:creationId xmlns:a16="http://schemas.microsoft.com/office/drawing/2014/main" id="{16905550-1833-BD82-A8AC-36974B0B48CD}"/>
              </a:ext>
            </a:extLst>
          </p:cNvPr>
          <p:cNvSpPr txBox="1"/>
          <p:nvPr/>
        </p:nvSpPr>
        <p:spPr>
          <a:xfrm>
            <a:off x="288532" y="1071443"/>
            <a:ext cx="10869203" cy="830997"/>
          </a:xfrm>
          <a:prstGeom prst="rect">
            <a:avLst/>
          </a:prstGeom>
          <a:noFill/>
        </p:spPr>
        <p:txBody>
          <a:bodyPr wrap="square" rtlCol="0">
            <a:spAutoFit/>
          </a:bodyPr>
          <a:lstStyle/>
          <a:p>
            <a:r>
              <a:rPr lang="en-US" sz="2400" dirty="0">
                <a:solidFill>
                  <a:schemeClr val="bg2">
                    <a:lumMod val="50000"/>
                  </a:schemeClr>
                </a:solidFill>
              </a:rPr>
              <a:t>People do not typically work well in situations of emergencies. So having a structured incident response process is essential</a:t>
            </a:r>
          </a:p>
        </p:txBody>
      </p:sp>
      <p:sp>
        <p:nvSpPr>
          <p:cNvPr id="2" name="TextBox 1">
            <a:extLst>
              <a:ext uri="{FF2B5EF4-FFF2-40B4-BE49-F238E27FC236}">
                <a16:creationId xmlns:a16="http://schemas.microsoft.com/office/drawing/2014/main" id="{D7C5D522-C0DC-147C-EB84-610391DE22A7}"/>
              </a:ext>
            </a:extLst>
          </p:cNvPr>
          <p:cNvSpPr txBox="1"/>
          <p:nvPr/>
        </p:nvSpPr>
        <p:spPr>
          <a:xfrm>
            <a:off x="2148156" y="2279680"/>
            <a:ext cx="8177372" cy="523220"/>
          </a:xfrm>
          <a:prstGeom prst="rect">
            <a:avLst/>
          </a:prstGeom>
          <a:solidFill>
            <a:schemeClr val="bg1">
              <a:lumMod val="85000"/>
            </a:schemeClr>
          </a:solidFill>
        </p:spPr>
        <p:txBody>
          <a:bodyPr wrap="square" rtlCol="0">
            <a:spAutoFit/>
          </a:bodyPr>
          <a:lstStyle/>
          <a:p>
            <a:r>
              <a:rPr lang="en-IN" sz="2800" dirty="0"/>
              <a:t>Have sufficient monitoring </a:t>
            </a:r>
          </a:p>
        </p:txBody>
      </p:sp>
      <p:sp>
        <p:nvSpPr>
          <p:cNvPr id="3" name="TextBox 2">
            <a:extLst>
              <a:ext uri="{FF2B5EF4-FFF2-40B4-BE49-F238E27FC236}">
                <a16:creationId xmlns:a16="http://schemas.microsoft.com/office/drawing/2014/main" id="{6EFCBF88-391A-3342-0F30-1AF34DD3AFB3}"/>
              </a:ext>
            </a:extLst>
          </p:cNvPr>
          <p:cNvSpPr txBox="1"/>
          <p:nvPr/>
        </p:nvSpPr>
        <p:spPr>
          <a:xfrm>
            <a:off x="916965" y="1910349"/>
            <a:ext cx="732893" cy="1323439"/>
          </a:xfrm>
          <a:prstGeom prst="rect">
            <a:avLst/>
          </a:prstGeom>
          <a:noFill/>
        </p:spPr>
        <p:txBody>
          <a:bodyPr wrap="none" rtlCol="0">
            <a:spAutoFit/>
          </a:bodyPr>
          <a:lstStyle/>
          <a:p>
            <a:r>
              <a:rPr lang="en-IN" sz="8000" dirty="0">
                <a:solidFill>
                  <a:schemeClr val="tx2">
                    <a:lumMod val="50000"/>
                    <a:lumOff val="50000"/>
                  </a:schemeClr>
                </a:solidFill>
              </a:rPr>
              <a:t>1</a:t>
            </a:r>
          </a:p>
        </p:txBody>
      </p:sp>
      <p:sp>
        <p:nvSpPr>
          <p:cNvPr id="5" name="TextBox 4">
            <a:extLst>
              <a:ext uri="{FF2B5EF4-FFF2-40B4-BE49-F238E27FC236}">
                <a16:creationId xmlns:a16="http://schemas.microsoft.com/office/drawing/2014/main" id="{21DF02AC-632C-862C-BA4F-824ED6951EDA}"/>
              </a:ext>
            </a:extLst>
          </p:cNvPr>
          <p:cNvSpPr txBox="1"/>
          <p:nvPr/>
        </p:nvSpPr>
        <p:spPr>
          <a:xfrm>
            <a:off x="2148156" y="3603119"/>
            <a:ext cx="8177372" cy="523220"/>
          </a:xfrm>
          <a:prstGeom prst="rect">
            <a:avLst/>
          </a:prstGeom>
          <a:solidFill>
            <a:schemeClr val="bg1">
              <a:lumMod val="85000"/>
            </a:schemeClr>
          </a:solidFill>
        </p:spPr>
        <p:txBody>
          <a:bodyPr wrap="square" rtlCol="0">
            <a:spAutoFit/>
          </a:bodyPr>
          <a:lstStyle/>
          <a:p>
            <a:r>
              <a:rPr lang="en-IN" sz="2800" dirty="0"/>
              <a:t>Good alerting and communication process</a:t>
            </a:r>
          </a:p>
        </p:txBody>
      </p:sp>
      <p:sp>
        <p:nvSpPr>
          <p:cNvPr id="6" name="TextBox 5">
            <a:extLst>
              <a:ext uri="{FF2B5EF4-FFF2-40B4-BE49-F238E27FC236}">
                <a16:creationId xmlns:a16="http://schemas.microsoft.com/office/drawing/2014/main" id="{8DF0EDD7-957E-60A1-3C1F-67F37B78EDD9}"/>
              </a:ext>
            </a:extLst>
          </p:cNvPr>
          <p:cNvSpPr txBox="1"/>
          <p:nvPr/>
        </p:nvSpPr>
        <p:spPr>
          <a:xfrm>
            <a:off x="916965" y="3233788"/>
            <a:ext cx="732893" cy="1323439"/>
          </a:xfrm>
          <a:prstGeom prst="rect">
            <a:avLst/>
          </a:prstGeom>
          <a:noFill/>
        </p:spPr>
        <p:txBody>
          <a:bodyPr wrap="none" rtlCol="0">
            <a:spAutoFit/>
          </a:bodyPr>
          <a:lstStyle/>
          <a:p>
            <a:r>
              <a:rPr lang="en-IN" sz="8000" dirty="0">
                <a:solidFill>
                  <a:schemeClr val="tx2">
                    <a:lumMod val="50000"/>
                    <a:lumOff val="50000"/>
                  </a:schemeClr>
                </a:solidFill>
              </a:rPr>
              <a:t>2</a:t>
            </a:r>
          </a:p>
        </p:txBody>
      </p:sp>
      <p:sp>
        <p:nvSpPr>
          <p:cNvPr id="7" name="TextBox 6">
            <a:extLst>
              <a:ext uri="{FF2B5EF4-FFF2-40B4-BE49-F238E27FC236}">
                <a16:creationId xmlns:a16="http://schemas.microsoft.com/office/drawing/2014/main" id="{57C95920-1A80-BF96-E641-B6914B3EB9C5}"/>
              </a:ext>
            </a:extLst>
          </p:cNvPr>
          <p:cNvSpPr txBox="1"/>
          <p:nvPr/>
        </p:nvSpPr>
        <p:spPr>
          <a:xfrm>
            <a:off x="2148156" y="5003503"/>
            <a:ext cx="8177372" cy="523220"/>
          </a:xfrm>
          <a:prstGeom prst="rect">
            <a:avLst/>
          </a:prstGeom>
          <a:solidFill>
            <a:schemeClr val="bg1">
              <a:lumMod val="85000"/>
            </a:schemeClr>
          </a:solidFill>
        </p:spPr>
        <p:txBody>
          <a:bodyPr wrap="square" rtlCol="0">
            <a:spAutoFit/>
          </a:bodyPr>
          <a:lstStyle/>
          <a:p>
            <a:r>
              <a:rPr lang="en-IN" sz="2800" dirty="0"/>
              <a:t>Playbook-style plans and tools</a:t>
            </a:r>
          </a:p>
        </p:txBody>
      </p:sp>
      <p:sp>
        <p:nvSpPr>
          <p:cNvPr id="8" name="TextBox 7">
            <a:extLst>
              <a:ext uri="{FF2B5EF4-FFF2-40B4-BE49-F238E27FC236}">
                <a16:creationId xmlns:a16="http://schemas.microsoft.com/office/drawing/2014/main" id="{1FAC7E69-D71E-6018-F9EB-0F34091A819E}"/>
              </a:ext>
            </a:extLst>
          </p:cNvPr>
          <p:cNvSpPr txBox="1"/>
          <p:nvPr/>
        </p:nvSpPr>
        <p:spPr>
          <a:xfrm>
            <a:off x="916965" y="4634172"/>
            <a:ext cx="732893" cy="1323439"/>
          </a:xfrm>
          <a:prstGeom prst="rect">
            <a:avLst/>
          </a:prstGeom>
          <a:noFill/>
        </p:spPr>
        <p:txBody>
          <a:bodyPr wrap="none" rtlCol="0">
            <a:spAutoFit/>
          </a:bodyPr>
          <a:lstStyle/>
          <a:p>
            <a:r>
              <a:rPr lang="en-IN" sz="8000" dirty="0">
                <a:solidFill>
                  <a:schemeClr val="tx2">
                    <a:lumMod val="50000"/>
                    <a:lumOff val="50000"/>
                  </a:schemeClr>
                </a:solidFill>
              </a:rPr>
              <a:t>3</a:t>
            </a:r>
          </a:p>
        </p:txBody>
      </p:sp>
      <p:sp>
        <p:nvSpPr>
          <p:cNvPr id="9" name="TextBox 8">
            <a:extLst>
              <a:ext uri="{FF2B5EF4-FFF2-40B4-BE49-F238E27FC236}">
                <a16:creationId xmlns:a16="http://schemas.microsoft.com/office/drawing/2014/main" id="{0CA20D16-9BBC-EE66-CA1C-ECC936CC1FF8}"/>
              </a:ext>
            </a:extLst>
          </p:cNvPr>
          <p:cNvSpPr txBox="1"/>
          <p:nvPr/>
        </p:nvSpPr>
        <p:spPr>
          <a:xfrm>
            <a:off x="381001" y="6179540"/>
            <a:ext cx="9544692" cy="369332"/>
          </a:xfrm>
          <a:prstGeom prst="rect">
            <a:avLst/>
          </a:prstGeom>
          <a:noFill/>
        </p:spPr>
        <p:txBody>
          <a:bodyPr wrap="square" rtlCol="0">
            <a:spAutoFit/>
          </a:bodyPr>
          <a:lstStyle/>
          <a:p>
            <a:r>
              <a:rPr lang="en-IN" b="1" dirty="0"/>
              <a:t>Sample</a:t>
            </a:r>
            <a:r>
              <a:rPr lang="en-IN" dirty="0"/>
              <a:t>: </a:t>
            </a:r>
            <a:r>
              <a:rPr lang="en-IN" dirty="0">
                <a:hlinkClick r:id="rId3"/>
              </a:rPr>
              <a:t>https://www.incidentresponse.org/playbooks/improper-computer-usage</a:t>
            </a:r>
            <a:r>
              <a:rPr lang="en-IN" dirty="0"/>
              <a:t> </a:t>
            </a:r>
          </a:p>
        </p:txBody>
      </p:sp>
    </p:spTree>
    <p:extLst>
      <p:ext uri="{BB962C8B-B14F-4D97-AF65-F5344CB8AC3E}">
        <p14:creationId xmlns:p14="http://schemas.microsoft.com/office/powerpoint/2010/main" val="1975139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493794"/>
            <a:ext cx="10956471" cy="652168"/>
          </a:xfrm>
        </p:spPr>
        <p:txBody>
          <a:bodyPr vert="horz" lIns="0" tIns="0" rIns="0" bIns="0" rtlCol="0" anchor="t" anchorCtr="0">
            <a:noAutofit/>
          </a:bodyPr>
          <a:lstStyle/>
          <a:p>
            <a:r>
              <a:rPr lang="en-US" sz="3600" b="1" dirty="0"/>
              <a:t>Post-mortems</a:t>
            </a:r>
          </a:p>
        </p:txBody>
      </p:sp>
      <p:sp>
        <p:nvSpPr>
          <p:cNvPr id="20" name="TextBox 19">
            <a:extLst>
              <a:ext uri="{FF2B5EF4-FFF2-40B4-BE49-F238E27FC236}">
                <a16:creationId xmlns:a16="http://schemas.microsoft.com/office/drawing/2014/main" id="{16905550-1833-BD82-A8AC-36974B0B48CD}"/>
              </a:ext>
            </a:extLst>
          </p:cNvPr>
          <p:cNvSpPr txBox="1"/>
          <p:nvPr/>
        </p:nvSpPr>
        <p:spPr>
          <a:xfrm>
            <a:off x="288533" y="1071443"/>
            <a:ext cx="9615756" cy="830997"/>
          </a:xfrm>
          <a:prstGeom prst="rect">
            <a:avLst/>
          </a:prstGeom>
          <a:noFill/>
        </p:spPr>
        <p:txBody>
          <a:bodyPr wrap="square" rtlCol="0">
            <a:spAutoFit/>
          </a:bodyPr>
          <a:lstStyle/>
          <a:p>
            <a:r>
              <a:rPr lang="en-US" sz="2400" dirty="0">
                <a:solidFill>
                  <a:schemeClr val="bg2">
                    <a:lumMod val="50000"/>
                  </a:schemeClr>
                </a:solidFill>
              </a:rPr>
              <a:t>A post-mortem conducted after an incident helps to build a culture of self-improvement</a:t>
            </a:r>
          </a:p>
        </p:txBody>
      </p:sp>
      <p:sp>
        <p:nvSpPr>
          <p:cNvPr id="2" name="TextBox 1">
            <a:extLst>
              <a:ext uri="{FF2B5EF4-FFF2-40B4-BE49-F238E27FC236}">
                <a16:creationId xmlns:a16="http://schemas.microsoft.com/office/drawing/2014/main" id="{D7C5D522-C0DC-147C-EB84-610391DE22A7}"/>
              </a:ext>
            </a:extLst>
          </p:cNvPr>
          <p:cNvSpPr txBox="1"/>
          <p:nvPr/>
        </p:nvSpPr>
        <p:spPr>
          <a:xfrm>
            <a:off x="493161" y="2188395"/>
            <a:ext cx="5003514" cy="4247317"/>
          </a:xfrm>
          <a:prstGeom prst="rect">
            <a:avLst/>
          </a:prstGeom>
          <a:noFill/>
        </p:spPr>
        <p:txBody>
          <a:bodyPr wrap="square" rtlCol="0">
            <a:spAutoFit/>
          </a:bodyPr>
          <a:lstStyle/>
          <a:p>
            <a:r>
              <a:rPr lang="en-IN" b="1" dirty="0"/>
              <a:t>Goals:</a:t>
            </a:r>
          </a:p>
          <a:p>
            <a:pPr marL="285750" indent="-285750">
              <a:buFont typeface="Arial" panose="020B0604020202020204" pitchFamily="34" charset="0"/>
              <a:buChar char="•"/>
            </a:pPr>
            <a:r>
              <a:rPr lang="en-IN" dirty="0"/>
              <a:t>All contributing causes are understood and documented</a:t>
            </a:r>
          </a:p>
          <a:p>
            <a:pPr marL="285750" indent="-285750">
              <a:buFont typeface="Arial" panose="020B0604020202020204" pitchFamily="34" charset="0"/>
              <a:buChar char="•"/>
            </a:pPr>
            <a:r>
              <a:rPr lang="en-IN" dirty="0"/>
              <a:t>Action items are put in place to avoid issue repetitions </a:t>
            </a:r>
          </a:p>
          <a:p>
            <a:pPr marL="285750" indent="-285750">
              <a:buFont typeface="Arial" panose="020B0604020202020204" pitchFamily="34" charset="0"/>
              <a:buChar char="•"/>
            </a:pPr>
            <a:endParaRPr lang="en-IN" dirty="0"/>
          </a:p>
          <a:p>
            <a:r>
              <a:rPr lang="en-IN" b="1" dirty="0"/>
              <a:t>Good practices:</a:t>
            </a:r>
          </a:p>
          <a:p>
            <a:pPr marL="285750" indent="-285750">
              <a:buFont typeface="Arial" panose="020B0604020202020204" pitchFamily="34" charset="0"/>
              <a:buChar char="•"/>
            </a:pPr>
            <a:r>
              <a:rPr lang="en-IN" dirty="0"/>
              <a:t>Post-mortems conducted &amp; closed within 3-5 days after an incident has occurred</a:t>
            </a:r>
          </a:p>
          <a:p>
            <a:pPr marL="285750" indent="-285750">
              <a:buFont typeface="Arial" panose="020B0604020202020204" pitchFamily="34" charset="0"/>
              <a:buChar char="•"/>
            </a:pPr>
            <a:r>
              <a:rPr lang="en-IN" dirty="0"/>
              <a:t>Document in detail, the errors, logs, steps taken, and decisions made that led to the incident/outage</a:t>
            </a:r>
          </a:p>
          <a:p>
            <a:pPr marL="285750" indent="-285750">
              <a:buFont typeface="Arial" panose="020B0604020202020204" pitchFamily="34" charset="0"/>
              <a:buChar char="•"/>
            </a:pPr>
            <a:r>
              <a:rPr lang="en-IN" dirty="0"/>
              <a:t>Document fixes if an SLO is breached, even if the SLA is not impacted</a:t>
            </a:r>
          </a:p>
          <a:p>
            <a:pPr marL="285750" indent="-285750">
              <a:buFont typeface="Arial" panose="020B0604020202020204" pitchFamily="34" charset="0"/>
              <a:buChar char="•"/>
            </a:pPr>
            <a:r>
              <a:rPr lang="en-IN" dirty="0"/>
              <a:t>Conduct </a:t>
            </a:r>
            <a:r>
              <a:rPr lang="en-IN" b="1" dirty="0"/>
              <a:t>blameless</a:t>
            </a:r>
            <a:r>
              <a:rPr lang="en-IN" dirty="0"/>
              <a:t> post-mortems</a:t>
            </a:r>
          </a:p>
        </p:txBody>
      </p:sp>
      <p:pic>
        <p:nvPicPr>
          <p:cNvPr id="7" name="Picture 6">
            <a:extLst>
              <a:ext uri="{FF2B5EF4-FFF2-40B4-BE49-F238E27FC236}">
                <a16:creationId xmlns:a16="http://schemas.microsoft.com/office/drawing/2014/main" id="{4B5826CC-C64C-8EDB-ABEC-8EFBEBF6D58A}"/>
              </a:ext>
            </a:extLst>
          </p:cNvPr>
          <p:cNvPicPr>
            <a:picLocks noChangeAspect="1"/>
          </p:cNvPicPr>
          <p:nvPr/>
        </p:nvPicPr>
        <p:blipFill>
          <a:blip r:embed="rId3"/>
          <a:stretch>
            <a:fillRect/>
          </a:stretch>
        </p:blipFill>
        <p:spPr>
          <a:xfrm>
            <a:off x="5496675" y="1486941"/>
            <a:ext cx="6584118" cy="5110921"/>
          </a:xfrm>
          <a:prstGeom prst="rect">
            <a:avLst/>
          </a:prstGeom>
        </p:spPr>
      </p:pic>
    </p:spTree>
    <p:extLst>
      <p:ext uri="{BB962C8B-B14F-4D97-AF65-F5344CB8AC3E}">
        <p14:creationId xmlns:p14="http://schemas.microsoft.com/office/powerpoint/2010/main" val="3331943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E5AE05-5A92-4F2B-906D-AC5B425D1A7C}"/>
              </a:ext>
            </a:extLst>
          </p:cNvPr>
          <p:cNvSpPr>
            <a:spLocks noGrp="1"/>
          </p:cNvSpPr>
          <p:nvPr>
            <p:ph type="title"/>
          </p:nvPr>
        </p:nvSpPr>
        <p:spPr>
          <a:xfrm>
            <a:off x="381001" y="226670"/>
            <a:ext cx="10956471" cy="652168"/>
          </a:xfrm>
        </p:spPr>
        <p:txBody>
          <a:bodyPr vert="horz" lIns="0" tIns="0" rIns="0" bIns="0" rtlCol="0" anchor="t" anchorCtr="0">
            <a:noAutofit/>
          </a:bodyPr>
          <a:lstStyle/>
          <a:p>
            <a:r>
              <a:rPr lang="en-US" sz="3600" b="1" dirty="0"/>
              <a:t>SRE: Roles and Responsibilities</a:t>
            </a:r>
          </a:p>
        </p:txBody>
      </p:sp>
      <p:sp>
        <p:nvSpPr>
          <p:cNvPr id="10" name="Rectangle: Rounded Corners 9">
            <a:extLst>
              <a:ext uri="{FF2B5EF4-FFF2-40B4-BE49-F238E27FC236}">
                <a16:creationId xmlns:a16="http://schemas.microsoft.com/office/drawing/2014/main" id="{A14A0D0F-8EEA-06EB-8FCC-609A2CE87FB3}"/>
              </a:ext>
            </a:extLst>
          </p:cNvPr>
          <p:cNvSpPr/>
          <p:nvPr/>
        </p:nvSpPr>
        <p:spPr>
          <a:xfrm>
            <a:off x="791961" y="1009635"/>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System Reliability</a:t>
            </a:r>
          </a:p>
        </p:txBody>
      </p:sp>
      <p:sp>
        <p:nvSpPr>
          <p:cNvPr id="11" name="Rectangle 10">
            <a:extLst>
              <a:ext uri="{FF2B5EF4-FFF2-40B4-BE49-F238E27FC236}">
                <a16:creationId xmlns:a16="http://schemas.microsoft.com/office/drawing/2014/main" id="{E0E342A4-47F1-568F-5013-CCC348CA563C}"/>
              </a:ext>
            </a:extLst>
          </p:cNvPr>
          <p:cNvSpPr/>
          <p:nvPr/>
        </p:nvSpPr>
        <p:spPr>
          <a:xfrm>
            <a:off x="791962" y="1592496"/>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Design for reliability</a:t>
            </a:r>
          </a:p>
          <a:p>
            <a:pPr marL="285750" indent="-285750">
              <a:buFont typeface="Arial" panose="020B0604020202020204" pitchFamily="34" charset="0"/>
              <a:buChar char="•"/>
            </a:pPr>
            <a:r>
              <a:rPr lang="en-US" dirty="0">
                <a:solidFill>
                  <a:schemeClr val="tx1"/>
                </a:solidFill>
              </a:rPr>
              <a:t>Build and maintain SLOs</a:t>
            </a:r>
          </a:p>
          <a:p>
            <a:pPr marL="285750" indent="-285750">
              <a:buFont typeface="Arial" panose="020B0604020202020204" pitchFamily="34" charset="0"/>
              <a:buChar char="•"/>
            </a:pPr>
            <a:r>
              <a:rPr lang="en-US" dirty="0">
                <a:solidFill>
                  <a:schemeClr val="tx1"/>
                </a:solidFill>
              </a:rPr>
              <a:t>Error budget management</a:t>
            </a:r>
            <a:endParaRPr lang="en-IN" dirty="0">
              <a:solidFill>
                <a:schemeClr val="tx1"/>
              </a:solidFill>
            </a:endParaRPr>
          </a:p>
        </p:txBody>
      </p:sp>
      <p:sp>
        <p:nvSpPr>
          <p:cNvPr id="12" name="Rectangle: Rounded Corners 11">
            <a:extLst>
              <a:ext uri="{FF2B5EF4-FFF2-40B4-BE49-F238E27FC236}">
                <a16:creationId xmlns:a16="http://schemas.microsoft.com/office/drawing/2014/main" id="{519AACA6-B4D5-7868-1699-EA3F5AC928ED}"/>
              </a:ext>
            </a:extLst>
          </p:cNvPr>
          <p:cNvSpPr/>
          <p:nvPr/>
        </p:nvSpPr>
        <p:spPr>
          <a:xfrm>
            <a:off x="2952500" y="1009635"/>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Incident Management</a:t>
            </a:r>
          </a:p>
        </p:txBody>
      </p:sp>
      <p:sp>
        <p:nvSpPr>
          <p:cNvPr id="2" name="Rectangle 1">
            <a:extLst>
              <a:ext uri="{FF2B5EF4-FFF2-40B4-BE49-F238E27FC236}">
                <a16:creationId xmlns:a16="http://schemas.microsoft.com/office/drawing/2014/main" id="{858CC734-FE43-564A-06C6-FD84622B3E99}"/>
              </a:ext>
            </a:extLst>
          </p:cNvPr>
          <p:cNvSpPr/>
          <p:nvPr/>
        </p:nvSpPr>
        <p:spPr>
          <a:xfrm>
            <a:off x="2952501" y="1592496"/>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Incident response</a:t>
            </a:r>
          </a:p>
          <a:p>
            <a:pPr marL="285750" indent="-285750">
              <a:buFont typeface="Arial" panose="020B0604020202020204" pitchFamily="34" charset="0"/>
              <a:buChar char="•"/>
            </a:pPr>
            <a:r>
              <a:rPr lang="en-US" dirty="0">
                <a:solidFill>
                  <a:schemeClr val="tx1"/>
                </a:solidFill>
              </a:rPr>
              <a:t>Postmortem analysis</a:t>
            </a:r>
          </a:p>
          <a:p>
            <a:pPr marL="285750" indent="-285750">
              <a:buFont typeface="Arial" panose="020B0604020202020204" pitchFamily="34" charset="0"/>
              <a:buChar char="•"/>
            </a:pPr>
            <a:r>
              <a:rPr lang="en-US" dirty="0">
                <a:solidFill>
                  <a:schemeClr val="tx1"/>
                </a:solidFill>
              </a:rPr>
              <a:t>Incident documentation</a:t>
            </a:r>
            <a:endParaRPr lang="en-IN" dirty="0">
              <a:solidFill>
                <a:schemeClr val="tx1"/>
              </a:solidFill>
            </a:endParaRPr>
          </a:p>
        </p:txBody>
      </p:sp>
      <p:sp>
        <p:nvSpPr>
          <p:cNvPr id="3" name="Rectangle: Rounded Corners 2">
            <a:extLst>
              <a:ext uri="{FF2B5EF4-FFF2-40B4-BE49-F238E27FC236}">
                <a16:creationId xmlns:a16="http://schemas.microsoft.com/office/drawing/2014/main" id="{6BF752A3-DCB8-FAA1-AB6A-73E442942D2E}"/>
              </a:ext>
            </a:extLst>
          </p:cNvPr>
          <p:cNvSpPr/>
          <p:nvPr/>
        </p:nvSpPr>
        <p:spPr>
          <a:xfrm>
            <a:off x="5113039" y="1009635"/>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Monitoring and Observability</a:t>
            </a:r>
          </a:p>
        </p:txBody>
      </p:sp>
      <p:sp>
        <p:nvSpPr>
          <p:cNvPr id="4" name="Rectangle 3">
            <a:extLst>
              <a:ext uri="{FF2B5EF4-FFF2-40B4-BE49-F238E27FC236}">
                <a16:creationId xmlns:a16="http://schemas.microsoft.com/office/drawing/2014/main" id="{8086FC1A-BD9A-DC6D-AC03-D83CEE403828}"/>
              </a:ext>
            </a:extLst>
          </p:cNvPr>
          <p:cNvSpPr/>
          <p:nvPr/>
        </p:nvSpPr>
        <p:spPr>
          <a:xfrm>
            <a:off x="5113040" y="1592496"/>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Monitoring setup</a:t>
            </a:r>
          </a:p>
          <a:p>
            <a:pPr marL="285750" indent="-285750">
              <a:buFont typeface="Arial" panose="020B0604020202020204" pitchFamily="34" charset="0"/>
              <a:buChar char="•"/>
            </a:pPr>
            <a:r>
              <a:rPr lang="en-US" dirty="0">
                <a:solidFill>
                  <a:schemeClr val="tx1"/>
                </a:solidFill>
              </a:rPr>
              <a:t>Metrics collection</a:t>
            </a:r>
          </a:p>
          <a:p>
            <a:pPr marL="285750" indent="-285750">
              <a:buFont typeface="Arial" panose="020B0604020202020204" pitchFamily="34" charset="0"/>
              <a:buChar char="•"/>
            </a:pPr>
            <a:r>
              <a:rPr lang="en-US" dirty="0">
                <a:solidFill>
                  <a:schemeClr val="tx1"/>
                </a:solidFill>
              </a:rPr>
              <a:t>Alerting</a:t>
            </a:r>
            <a:endParaRPr lang="en-IN" dirty="0">
              <a:solidFill>
                <a:schemeClr val="tx1"/>
              </a:solidFill>
            </a:endParaRPr>
          </a:p>
        </p:txBody>
      </p:sp>
      <p:sp>
        <p:nvSpPr>
          <p:cNvPr id="5" name="Rectangle: Rounded Corners 4">
            <a:extLst>
              <a:ext uri="{FF2B5EF4-FFF2-40B4-BE49-F238E27FC236}">
                <a16:creationId xmlns:a16="http://schemas.microsoft.com/office/drawing/2014/main" id="{AA334F6B-3A20-A496-2FCE-C3A2477C1007}"/>
              </a:ext>
            </a:extLst>
          </p:cNvPr>
          <p:cNvSpPr/>
          <p:nvPr/>
        </p:nvSpPr>
        <p:spPr>
          <a:xfrm>
            <a:off x="7273578" y="1009635"/>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Capacity planning and Scaling</a:t>
            </a:r>
          </a:p>
        </p:txBody>
      </p:sp>
      <p:sp>
        <p:nvSpPr>
          <p:cNvPr id="6" name="Rectangle 5">
            <a:extLst>
              <a:ext uri="{FF2B5EF4-FFF2-40B4-BE49-F238E27FC236}">
                <a16:creationId xmlns:a16="http://schemas.microsoft.com/office/drawing/2014/main" id="{12B3ABC7-B9DC-55F4-CC49-5BAD63014CAF}"/>
              </a:ext>
            </a:extLst>
          </p:cNvPr>
          <p:cNvSpPr/>
          <p:nvPr/>
        </p:nvSpPr>
        <p:spPr>
          <a:xfrm>
            <a:off x="7273579" y="1592496"/>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Capacity forecasting</a:t>
            </a:r>
          </a:p>
          <a:p>
            <a:pPr marL="285750" indent="-285750">
              <a:buFont typeface="Arial" panose="020B0604020202020204" pitchFamily="34" charset="0"/>
              <a:buChar char="•"/>
            </a:pPr>
            <a:r>
              <a:rPr lang="en-US" dirty="0">
                <a:solidFill>
                  <a:schemeClr val="tx1"/>
                </a:solidFill>
              </a:rPr>
              <a:t>Scaling</a:t>
            </a:r>
          </a:p>
          <a:p>
            <a:pPr marL="285750" indent="-285750">
              <a:buFont typeface="Arial" panose="020B0604020202020204" pitchFamily="34" charset="0"/>
              <a:buChar char="•"/>
            </a:pPr>
            <a:r>
              <a:rPr lang="en-US" dirty="0">
                <a:solidFill>
                  <a:schemeClr val="tx1"/>
                </a:solidFill>
              </a:rPr>
              <a:t>Cost management</a:t>
            </a:r>
            <a:endParaRPr lang="en-IN" dirty="0">
              <a:solidFill>
                <a:schemeClr val="tx1"/>
              </a:solidFill>
            </a:endParaRPr>
          </a:p>
        </p:txBody>
      </p:sp>
      <p:sp>
        <p:nvSpPr>
          <p:cNvPr id="7" name="Rectangle: Rounded Corners 6">
            <a:extLst>
              <a:ext uri="{FF2B5EF4-FFF2-40B4-BE49-F238E27FC236}">
                <a16:creationId xmlns:a16="http://schemas.microsoft.com/office/drawing/2014/main" id="{EFDFE1D9-3834-018C-7679-6975C7A11A5F}"/>
              </a:ext>
            </a:extLst>
          </p:cNvPr>
          <p:cNvSpPr/>
          <p:nvPr/>
        </p:nvSpPr>
        <p:spPr>
          <a:xfrm>
            <a:off x="9434117" y="1009635"/>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Automation</a:t>
            </a:r>
          </a:p>
        </p:txBody>
      </p:sp>
      <p:sp>
        <p:nvSpPr>
          <p:cNvPr id="8" name="Rectangle 7">
            <a:extLst>
              <a:ext uri="{FF2B5EF4-FFF2-40B4-BE49-F238E27FC236}">
                <a16:creationId xmlns:a16="http://schemas.microsoft.com/office/drawing/2014/main" id="{D699EE4E-FA4D-15DE-9657-822C6CB98935}"/>
              </a:ext>
            </a:extLst>
          </p:cNvPr>
          <p:cNvSpPr/>
          <p:nvPr/>
        </p:nvSpPr>
        <p:spPr>
          <a:xfrm>
            <a:off x="9434118" y="1592496"/>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Task automation</a:t>
            </a:r>
          </a:p>
          <a:p>
            <a:pPr marL="285750" indent="-285750">
              <a:buFont typeface="Arial" panose="020B0604020202020204" pitchFamily="34" charset="0"/>
              <a:buChar char="•"/>
            </a:pPr>
            <a:r>
              <a:rPr lang="en-US" dirty="0">
                <a:solidFill>
                  <a:schemeClr val="tx1"/>
                </a:solidFill>
              </a:rPr>
              <a:t>Deployment pipelines</a:t>
            </a:r>
          </a:p>
          <a:p>
            <a:pPr marL="285750" indent="-285750">
              <a:buFont typeface="Arial" panose="020B0604020202020204" pitchFamily="34" charset="0"/>
              <a:buChar char="•"/>
            </a:pPr>
            <a:r>
              <a:rPr lang="en-US" dirty="0">
                <a:solidFill>
                  <a:schemeClr val="tx1"/>
                </a:solidFill>
              </a:rPr>
              <a:t>Toil reduction</a:t>
            </a:r>
            <a:endParaRPr lang="en-IN" dirty="0">
              <a:solidFill>
                <a:schemeClr val="tx1"/>
              </a:solidFill>
            </a:endParaRPr>
          </a:p>
        </p:txBody>
      </p:sp>
      <p:sp>
        <p:nvSpPr>
          <p:cNvPr id="9" name="Rectangle: Rounded Corners 8">
            <a:extLst>
              <a:ext uri="{FF2B5EF4-FFF2-40B4-BE49-F238E27FC236}">
                <a16:creationId xmlns:a16="http://schemas.microsoft.com/office/drawing/2014/main" id="{F5EC04D9-251E-2197-3DA8-5BE3E8C5084C}"/>
              </a:ext>
            </a:extLst>
          </p:cNvPr>
          <p:cNvSpPr/>
          <p:nvPr/>
        </p:nvSpPr>
        <p:spPr>
          <a:xfrm>
            <a:off x="791960" y="3921961"/>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Performance Optimization</a:t>
            </a:r>
          </a:p>
        </p:txBody>
      </p:sp>
      <p:sp>
        <p:nvSpPr>
          <p:cNvPr id="14" name="Rectangle 13">
            <a:extLst>
              <a:ext uri="{FF2B5EF4-FFF2-40B4-BE49-F238E27FC236}">
                <a16:creationId xmlns:a16="http://schemas.microsoft.com/office/drawing/2014/main" id="{9F01FF26-2773-0193-F124-F2AA0565D06B}"/>
              </a:ext>
            </a:extLst>
          </p:cNvPr>
          <p:cNvSpPr/>
          <p:nvPr/>
        </p:nvSpPr>
        <p:spPr>
          <a:xfrm>
            <a:off x="791961" y="4504822"/>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System tuning</a:t>
            </a:r>
          </a:p>
          <a:p>
            <a:pPr marL="285750" indent="-285750">
              <a:buFont typeface="Arial" panose="020B0604020202020204" pitchFamily="34" charset="0"/>
              <a:buChar char="•"/>
            </a:pPr>
            <a:r>
              <a:rPr lang="en-US" dirty="0">
                <a:solidFill>
                  <a:schemeClr val="tx1"/>
                </a:solidFill>
              </a:rPr>
              <a:t>Load testing</a:t>
            </a:r>
          </a:p>
          <a:p>
            <a:pPr marL="285750" indent="-285750">
              <a:buFont typeface="Arial" panose="020B0604020202020204" pitchFamily="34" charset="0"/>
              <a:buChar char="•"/>
            </a:pPr>
            <a:r>
              <a:rPr lang="en-US" dirty="0">
                <a:solidFill>
                  <a:schemeClr val="tx1"/>
                </a:solidFill>
              </a:rPr>
              <a:t>SLO/SLA management</a:t>
            </a:r>
            <a:endParaRPr lang="en-IN" dirty="0">
              <a:solidFill>
                <a:schemeClr val="tx1"/>
              </a:solidFill>
            </a:endParaRPr>
          </a:p>
        </p:txBody>
      </p:sp>
      <p:sp>
        <p:nvSpPr>
          <p:cNvPr id="15" name="Rectangle: Rounded Corners 14">
            <a:extLst>
              <a:ext uri="{FF2B5EF4-FFF2-40B4-BE49-F238E27FC236}">
                <a16:creationId xmlns:a16="http://schemas.microsoft.com/office/drawing/2014/main" id="{A85903DA-7639-2C20-7756-7DB98F303872}"/>
              </a:ext>
            </a:extLst>
          </p:cNvPr>
          <p:cNvSpPr/>
          <p:nvPr/>
        </p:nvSpPr>
        <p:spPr>
          <a:xfrm>
            <a:off x="2952499" y="3921961"/>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Collaboration and communication</a:t>
            </a:r>
          </a:p>
        </p:txBody>
      </p:sp>
      <p:sp>
        <p:nvSpPr>
          <p:cNvPr id="17" name="Rectangle 16">
            <a:extLst>
              <a:ext uri="{FF2B5EF4-FFF2-40B4-BE49-F238E27FC236}">
                <a16:creationId xmlns:a16="http://schemas.microsoft.com/office/drawing/2014/main" id="{057982E5-B921-7060-049F-29D5EC9FB0B3}"/>
              </a:ext>
            </a:extLst>
          </p:cNvPr>
          <p:cNvSpPr/>
          <p:nvPr/>
        </p:nvSpPr>
        <p:spPr>
          <a:xfrm>
            <a:off x="2952500" y="4504822"/>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Cross-functional collaboration</a:t>
            </a:r>
          </a:p>
          <a:p>
            <a:pPr marL="285750" indent="-285750">
              <a:buFont typeface="Arial" panose="020B0604020202020204" pitchFamily="34" charset="0"/>
              <a:buChar char="•"/>
            </a:pPr>
            <a:r>
              <a:rPr lang="en-US" dirty="0">
                <a:solidFill>
                  <a:schemeClr val="tx1"/>
                </a:solidFill>
              </a:rPr>
              <a:t>Documentation</a:t>
            </a:r>
            <a:endParaRPr lang="en-IN" dirty="0">
              <a:solidFill>
                <a:schemeClr val="tx1"/>
              </a:solidFill>
            </a:endParaRPr>
          </a:p>
        </p:txBody>
      </p:sp>
      <p:sp>
        <p:nvSpPr>
          <p:cNvPr id="18" name="Rectangle: Rounded Corners 17">
            <a:extLst>
              <a:ext uri="{FF2B5EF4-FFF2-40B4-BE49-F238E27FC236}">
                <a16:creationId xmlns:a16="http://schemas.microsoft.com/office/drawing/2014/main" id="{8B42F6AA-6FA3-F453-507E-44DCC419817F}"/>
              </a:ext>
            </a:extLst>
          </p:cNvPr>
          <p:cNvSpPr/>
          <p:nvPr/>
        </p:nvSpPr>
        <p:spPr>
          <a:xfrm>
            <a:off x="5113038" y="3921961"/>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Security and compliance</a:t>
            </a:r>
          </a:p>
        </p:txBody>
      </p:sp>
      <p:sp>
        <p:nvSpPr>
          <p:cNvPr id="19" name="Rectangle 18">
            <a:extLst>
              <a:ext uri="{FF2B5EF4-FFF2-40B4-BE49-F238E27FC236}">
                <a16:creationId xmlns:a16="http://schemas.microsoft.com/office/drawing/2014/main" id="{1A8276CD-AA67-8239-3CA9-AB1E459473D1}"/>
              </a:ext>
            </a:extLst>
          </p:cNvPr>
          <p:cNvSpPr/>
          <p:nvPr/>
        </p:nvSpPr>
        <p:spPr>
          <a:xfrm>
            <a:off x="5113039" y="4504822"/>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Security practices</a:t>
            </a:r>
          </a:p>
          <a:p>
            <a:pPr marL="285750" indent="-285750">
              <a:buFont typeface="Arial" panose="020B0604020202020204" pitchFamily="34" charset="0"/>
              <a:buChar char="•"/>
            </a:pPr>
            <a:r>
              <a:rPr lang="en-US" dirty="0">
                <a:solidFill>
                  <a:schemeClr val="tx1"/>
                </a:solidFill>
              </a:rPr>
              <a:t>Compliance</a:t>
            </a:r>
          </a:p>
          <a:p>
            <a:pPr marL="285750" indent="-285750">
              <a:buFont typeface="Arial" panose="020B0604020202020204" pitchFamily="34" charset="0"/>
              <a:buChar char="•"/>
            </a:pPr>
            <a:r>
              <a:rPr lang="en-US" dirty="0">
                <a:solidFill>
                  <a:schemeClr val="tx1"/>
                </a:solidFill>
              </a:rPr>
              <a:t>Policies</a:t>
            </a:r>
            <a:endParaRPr lang="en-IN" dirty="0">
              <a:solidFill>
                <a:schemeClr val="tx1"/>
              </a:solidFill>
            </a:endParaRPr>
          </a:p>
        </p:txBody>
      </p:sp>
      <p:sp>
        <p:nvSpPr>
          <p:cNvPr id="20" name="Rectangle: Rounded Corners 19">
            <a:extLst>
              <a:ext uri="{FF2B5EF4-FFF2-40B4-BE49-F238E27FC236}">
                <a16:creationId xmlns:a16="http://schemas.microsoft.com/office/drawing/2014/main" id="{E37B994F-BE2E-CEAD-AA61-D78097DBEF11}"/>
              </a:ext>
            </a:extLst>
          </p:cNvPr>
          <p:cNvSpPr/>
          <p:nvPr/>
        </p:nvSpPr>
        <p:spPr>
          <a:xfrm>
            <a:off x="7273577" y="3921961"/>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Continuous Improvement</a:t>
            </a:r>
          </a:p>
        </p:txBody>
      </p:sp>
      <p:sp>
        <p:nvSpPr>
          <p:cNvPr id="21" name="Rectangle 20">
            <a:extLst>
              <a:ext uri="{FF2B5EF4-FFF2-40B4-BE49-F238E27FC236}">
                <a16:creationId xmlns:a16="http://schemas.microsoft.com/office/drawing/2014/main" id="{5FA7E684-853D-27CC-A234-8C3703F52443}"/>
              </a:ext>
            </a:extLst>
          </p:cNvPr>
          <p:cNvSpPr/>
          <p:nvPr/>
        </p:nvSpPr>
        <p:spPr>
          <a:xfrm>
            <a:off x="7273578" y="4504822"/>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Process improvement</a:t>
            </a:r>
          </a:p>
          <a:p>
            <a:pPr marL="285750" indent="-285750">
              <a:buFont typeface="Arial" panose="020B0604020202020204" pitchFamily="34" charset="0"/>
              <a:buChar char="•"/>
            </a:pPr>
            <a:r>
              <a:rPr lang="en-US" dirty="0">
                <a:solidFill>
                  <a:schemeClr val="tx1"/>
                </a:solidFill>
              </a:rPr>
              <a:t>Training and knowledge sharing</a:t>
            </a:r>
            <a:endParaRPr lang="en-IN" dirty="0">
              <a:solidFill>
                <a:schemeClr val="tx1"/>
              </a:solidFill>
            </a:endParaRPr>
          </a:p>
        </p:txBody>
      </p:sp>
      <p:sp>
        <p:nvSpPr>
          <p:cNvPr id="22" name="Rectangle: Rounded Corners 21">
            <a:extLst>
              <a:ext uri="{FF2B5EF4-FFF2-40B4-BE49-F238E27FC236}">
                <a16:creationId xmlns:a16="http://schemas.microsoft.com/office/drawing/2014/main" id="{6125E5C8-1C08-F2F1-A18D-E1FB060FD670}"/>
              </a:ext>
            </a:extLst>
          </p:cNvPr>
          <p:cNvSpPr/>
          <p:nvPr/>
        </p:nvSpPr>
        <p:spPr>
          <a:xfrm>
            <a:off x="9434116" y="3921961"/>
            <a:ext cx="2033426" cy="523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Emergency response planning</a:t>
            </a:r>
          </a:p>
        </p:txBody>
      </p:sp>
      <p:sp>
        <p:nvSpPr>
          <p:cNvPr id="23" name="Rectangle 22">
            <a:extLst>
              <a:ext uri="{FF2B5EF4-FFF2-40B4-BE49-F238E27FC236}">
                <a16:creationId xmlns:a16="http://schemas.microsoft.com/office/drawing/2014/main" id="{D4AD969E-82E3-CEE0-AA4A-D87FA06221E8}"/>
              </a:ext>
            </a:extLst>
          </p:cNvPr>
          <p:cNvSpPr/>
          <p:nvPr/>
        </p:nvSpPr>
        <p:spPr>
          <a:xfrm>
            <a:off x="9434117" y="4504822"/>
            <a:ext cx="2033425" cy="2044558"/>
          </a:xfrm>
          <a:prstGeom prst="rect">
            <a:avLst/>
          </a:prstGeom>
          <a:solidFill>
            <a:schemeClr val="tx2">
              <a:lumMod val="10000"/>
              <a:lumOff val="9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t" anchorCtr="0"/>
          <a:lstStyle/>
          <a:p>
            <a:pPr marL="285750" indent="-285750">
              <a:buFont typeface="Arial" panose="020B0604020202020204" pitchFamily="34" charset="0"/>
              <a:buChar char="•"/>
            </a:pPr>
            <a:r>
              <a:rPr lang="en-US" dirty="0">
                <a:solidFill>
                  <a:schemeClr val="tx1"/>
                </a:solidFill>
              </a:rPr>
              <a:t>Disaster recovery planning</a:t>
            </a:r>
          </a:p>
          <a:p>
            <a:pPr marL="285750" indent="-285750">
              <a:buFont typeface="Arial" panose="020B0604020202020204" pitchFamily="34" charset="0"/>
              <a:buChar char="•"/>
            </a:pPr>
            <a:r>
              <a:rPr lang="en-US" dirty="0">
                <a:solidFill>
                  <a:schemeClr val="tx1"/>
                </a:solidFill>
              </a:rPr>
              <a:t>Business continuity</a:t>
            </a:r>
            <a:endParaRPr lang="en-IN" dirty="0">
              <a:solidFill>
                <a:schemeClr val="tx1"/>
              </a:solidFill>
            </a:endParaRPr>
          </a:p>
        </p:txBody>
      </p:sp>
    </p:spTree>
    <p:extLst>
      <p:ext uri="{BB962C8B-B14F-4D97-AF65-F5344CB8AC3E}">
        <p14:creationId xmlns:p14="http://schemas.microsoft.com/office/powerpoint/2010/main" val="1320422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T Automation: How It Works &amp;amp; Why You Need it – BMC Software | Blogs">
            <a:extLst>
              <a:ext uri="{FF2B5EF4-FFF2-40B4-BE49-F238E27FC236}">
                <a16:creationId xmlns:a16="http://schemas.microsoft.com/office/drawing/2014/main" id="{F71A5231-D65C-40EA-8CEF-2BCB80801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1769" y="2"/>
            <a:ext cx="8670230" cy="457199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6540127-2D3C-7347-B352-0B01B92D2B95}"/>
              </a:ext>
            </a:extLst>
          </p:cNvPr>
          <p:cNvSpPr/>
          <p:nvPr/>
        </p:nvSpPr>
        <p:spPr>
          <a:xfrm>
            <a:off x="389190" y="3363985"/>
            <a:ext cx="2796095" cy="2830338"/>
          </a:xfrm>
          <a:prstGeom prst="rect">
            <a:avLst/>
          </a:prstGeom>
          <a:solidFill>
            <a:schemeClr val="accent1"/>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7E496957-A3A3-4091-9E3C-2A640B70E149}"/>
              </a:ext>
            </a:extLst>
          </p:cNvPr>
          <p:cNvSpPr>
            <a:spLocks noGrp="1"/>
          </p:cNvSpPr>
          <p:nvPr>
            <p:ph type="sldNum" sz="quarter" idx="12"/>
          </p:nvPr>
        </p:nvSpPr>
        <p:spPr>
          <a:xfrm>
            <a:off x="11503152" y="6402071"/>
            <a:ext cx="320040" cy="182880"/>
          </a:xfrm>
          <a:prstGeom prst="rect">
            <a:avLst/>
          </a:prstGeom>
        </p:spPr>
        <p:txBody>
          <a:bodyPr vert="horz" wrap="none" lIns="0" tIns="0" rIns="0" bIns="0" rtlCol="0" anchor="b" anchorCtr="0"/>
          <a:lstStyle>
            <a:defPPr>
              <a:defRPr lang="en-US"/>
            </a:defPPr>
            <a:lvl1pPr marL="0" algn="r"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42038AD7-C3D9-6141-BEF0-6BD01642C74E}" type="slidenum">
              <a:rPr lang="en-US" smtClean="0"/>
              <a:pPr marL="0" marR="0" lvl="0" indent="0" algn="r" defTabSz="121917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231F20"/>
              </a:solidFill>
              <a:effectLst/>
              <a:uLnTx/>
              <a:uFillTx/>
              <a:latin typeface="Arial"/>
              <a:ea typeface="+mn-ea"/>
              <a:cs typeface="+mn-cs"/>
            </a:endParaRPr>
          </a:p>
        </p:txBody>
      </p:sp>
      <p:sp>
        <p:nvSpPr>
          <p:cNvPr id="22" name="Rectangle: Rounded Corners 21">
            <a:extLst>
              <a:ext uri="{FF2B5EF4-FFF2-40B4-BE49-F238E27FC236}">
                <a16:creationId xmlns:a16="http://schemas.microsoft.com/office/drawing/2014/main" id="{E59205B3-047B-4D00-B92F-C226570F0C01}"/>
              </a:ext>
            </a:extLst>
          </p:cNvPr>
          <p:cNvSpPr/>
          <p:nvPr/>
        </p:nvSpPr>
        <p:spPr>
          <a:xfrm>
            <a:off x="389190" y="2839753"/>
            <a:ext cx="2802137" cy="524231"/>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Retail Manufacturing Company</a:t>
            </a:r>
          </a:p>
        </p:txBody>
      </p:sp>
      <p:sp>
        <p:nvSpPr>
          <p:cNvPr id="6" name="Rectangle 5">
            <a:extLst>
              <a:ext uri="{FF2B5EF4-FFF2-40B4-BE49-F238E27FC236}">
                <a16:creationId xmlns:a16="http://schemas.microsoft.com/office/drawing/2014/main" id="{0858B7BF-91B3-2848-BE69-F49029EFE094}"/>
              </a:ext>
            </a:extLst>
          </p:cNvPr>
          <p:cNvSpPr/>
          <p:nvPr/>
        </p:nvSpPr>
        <p:spPr>
          <a:xfrm>
            <a:off x="358675" y="3454618"/>
            <a:ext cx="2857124" cy="2462213"/>
          </a:xfrm>
          <a:prstGeom prst="rect">
            <a:avLst/>
          </a:prstGeom>
        </p:spPr>
        <p:txBody>
          <a:bodyPr wrap="square">
            <a:spAutoFit/>
          </a:bodyPr>
          <a:lstStyle/>
          <a:p>
            <a:pPr rtl="0" fontAlgn="base"/>
            <a:r>
              <a:rPr lang="en-US" sz="1400">
                <a:solidFill>
                  <a:schemeClr val="bg1"/>
                </a:solidFill>
                <a:latin typeface="Arial" panose="020B0604020202020204" pitchFamily="34" charset="0"/>
                <a:ea typeface="Gulim" panose="020B0600000101010101" pitchFamily="34" charset="-127"/>
                <a:cs typeface="Arial" panose="020B0604020202020204" pitchFamily="34" charset="0"/>
              </a:rPr>
              <a:t>The customer was maintaining multiple business critical platforms under the same portfolio, but since each platform team used their own monitoring strategy and tools, there was no single-pane-of-glass view, or the observability was not centralized. SLIs and SLOs were not defined, and persona-based dashboards were not available.</a:t>
            </a:r>
          </a:p>
        </p:txBody>
      </p:sp>
      <p:sp>
        <p:nvSpPr>
          <p:cNvPr id="30" name="Rectangle 29">
            <a:extLst>
              <a:ext uri="{FF2B5EF4-FFF2-40B4-BE49-F238E27FC236}">
                <a16:creationId xmlns:a16="http://schemas.microsoft.com/office/drawing/2014/main" id="{FA84ABDC-07DC-4987-9D2A-743CCE66C8D1}"/>
              </a:ext>
            </a:extLst>
          </p:cNvPr>
          <p:cNvSpPr/>
          <p:nvPr/>
        </p:nvSpPr>
        <p:spPr>
          <a:xfrm>
            <a:off x="3521768" y="4572000"/>
            <a:ext cx="8670231" cy="1622323"/>
          </a:xfrm>
          <a:prstGeom prst="rect">
            <a:avLst/>
          </a:prstGeom>
          <a:solidFill>
            <a:schemeClr val="accent1">
              <a:alpha val="7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1" name="TextBox 30">
            <a:extLst>
              <a:ext uri="{FF2B5EF4-FFF2-40B4-BE49-F238E27FC236}">
                <a16:creationId xmlns:a16="http://schemas.microsoft.com/office/drawing/2014/main" id="{9261ECBE-D8E5-4BD2-96E7-4824276D32A3}"/>
              </a:ext>
            </a:extLst>
          </p:cNvPr>
          <p:cNvSpPr txBox="1"/>
          <p:nvPr/>
        </p:nvSpPr>
        <p:spPr>
          <a:xfrm>
            <a:off x="3959168" y="4737323"/>
            <a:ext cx="1628420"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kumimoji="0" lang="en-US" sz="3600" b="0" i="0" u="none" strike="noStrike" kern="1200" cap="none" spc="0" normalizeH="0" baseline="0" noProof="0">
                <a:ln>
                  <a:noFill/>
                </a:ln>
                <a:solidFill>
                  <a:srgbClr val="006E74"/>
                </a:solidFill>
                <a:effectLst/>
                <a:uLnTx/>
                <a:uFillTx/>
                <a:latin typeface="Arial"/>
                <a:ea typeface="+mn-ea"/>
                <a:cs typeface="+mn-cs"/>
              </a:rPr>
              <a:t>75%</a:t>
            </a:r>
            <a:endParaRPr kumimoji="0" lang="en-IN" sz="3600" b="0" i="0" u="none" strike="noStrike" kern="1200" cap="none" spc="0" normalizeH="0" baseline="0" noProof="0">
              <a:ln>
                <a:noFill/>
              </a:ln>
              <a:solidFill>
                <a:srgbClr val="006E74"/>
              </a:solidFill>
              <a:effectLst/>
              <a:uLnTx/>
              <a:uFillTx/>
              <a:latin typeface="Arial"/>
              <a:ea typeface="+mn-ea"/>
              <a:cs typeface="+mn-cs"/>
            </a:endParaRPr>
          </a:p>
        </p:txBody>
      </p:sp>
      <p:sp>
        <p:nvSpPr>
          <p:cNvPr id="32" name="TextBox 31">
            <a:extLst>
              <a:ext uri="{FF2B5EF4-FFF2-40B4-BE49-F238E27FC236}">
                <a16:creationId xmlns:a16="http://schemas.microsoft.com/office/drawing/2014/main" id="{EB10D2EE-0655-432F-AAFB-5D23E23B7890}"/>
              </a:ext>
            </a:extLst>
          </p:cNvPr>
          <p:cNvSpPr txBox="1"/>
          <p:nvPr/>
        </p:nvSpPr>
        <p:spPr>
          <a:xfrm>
            <a:off x="3694345" y="5383161"/>
            <a:ext cx="2158066"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kumimoji="0" lang="en-US" sz="1600" b="0" i="0" u="none" strike="noStrike" kern="1200" cap="none" spc="0" normalizeH="0" baseline="0" noProof="0">
                <a:ln>
                  <a:noFill/>
                </a:ln>
                <a:solidFill>
                  <a:srgbClr val="006E74"/>
                </a:solidFill>
                <a:effectLst/>
                <a:uLnTx/>
                <a:uFillTx/>
                <a:latin typeface="Arial"/>
                <a:ea typeface="+mn-ea"/>
                <a:cs typeface="+mn-cs"/>
              </a:rPr>
              <a:t>Faster identification of </a:t>
            </a:r>
            <a:r>
              <a:rPr lang="en-US" sz="1600">
                <a:solidFill>
                  <a:srgbClr val="006E74"/>
                </a:solidFill>
                <a:latin typeface="Arial"/>
              </a:rPr>
              <a:t>errors and latency, traffic, saturation issues</a:t>
            </a:r>
            <a:endParaRPr kumimoji="0" lang="en-IN" sz="1600" b="0" i="0" u="none" strike="noStrike" kern="1200" cap="none" spc="0" normalizeH="0" baseline="0" noProof="0">
              <a:ln>
                <a:noFill/>
              </a:ln>
              <a:solidFill>
                <a:srgbClr val="006E74"/>
              </a:solidFill>
              <a:effectLst/>
              <a:uLnTx/>
              <a:uFillTx/>
              <a:latin typeface="Arial"/>
              <a:ea typeface="+mn-ea"/>
              <a:cs typeface="+mn-cs"/>
            </a:endParaRPr>
          </a:p>
        </p:txBody>
      </p:sp>
      <p:sp>
        <p:nvSpPr>
          <p:cNvPr id="33" name="TextBox 32">
            <a:extLst>
              <a:ext uri="{FF2B5EF4-FFF2-40B4-BE49-F238E27FC236}">
                <a16:creationId xmlns:a16="http://schemas.microsoft.com/office/drawing/2014/main" id="{B36F7E4B-3E63-4CA6-9EF4-E1415EE08F93}"/>
              </a:ext>
            </a:extLst>
          </p:cNvPr>
          <p:cNvSpPr txBox="1"/>
          <p:nvPr/>
        </p:nvSpPr>
        <p:spPr>
          <a:xfrm>
            <a:off x="6869237" y="4731891"/>
            <a:ext cx="1628420"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kumimoji="0" lang="en-US" sz="3600" b="0" i="0" u="none" strike="noStrike" kern="1200" cap="none" spc="0" normalizeH="0" baseline="0" noProof="0">
                <a:ln>
                  <a:noFill/>
                </a:ln>
                <a:solidFill>
                  <a:srgbClr val="006E74"/>
                </a:solidFill>
                <a:effectLst/>
                <a:uLnTx/>
                <a:uFillTx/>
                <a:latin typeface="Arial"/>
                <a:ea typeface="+mn-ea"/>
                <a:cs typeface="+mn-cs"/>
              </a:rPr>
              <a:t>50%</a:t>
            </a:r>
            <a:endParaRPr kumimoji="0" lang="en-IN" sz="3600" b="0" i="0" u="none" strike="noStrike" kern="1200" cap="none" spc="0" normalizeH="0" baseline="0" noProof="0">
              <a:ln>
                <a:noFill/>
              </a:ln>
              <a:solidFill>
                <a:srgbClr val="006E74"/>
              </a:solidFill>
              <a:effectLst/>
              <a:uLnTx/>
              <a:uFillTx/>
              <a:latin typeface="Arial"/>
              <a:ea typeface="+mn-ea"/>
              <a:cs typeface="+mn-cs"/>
            </a:endParaRPr>
          </a:p>
        </p:txBody>
      </p:sp>
      <p:sp>
        <p:nvSpPr>
          <p:cNvPr id="34" name="TextBox 33">
            <a:extLst>
              <a:ext uri="{FF2B5EF4-FFF2-40B4-BE49-F238E27FC236}">
                <a16:creationId xmlns:a16="http://schemas.microsoft.com/office/drawing/2014/main" id="{BA772121-7BBB-4DF7-8A4F-781978B5FFF8}"/>
              </a:ext>
            </a:extLst>
          </p:cNvPr>
          <p:cNvSpPr txBox="1"/>
          <p:nvPr/>
        </p:nvSpPr>
        <p:spPr>
          <a:xfrm>
            <a:off x="6604414" y="5377729"/>
            <a:ext cx="2158066"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kumimoji="0" lang="en-US" sz="1600" b="0" i="0" u="none" strike="noStrike" kern="1200" cap="none" spc="0" normalizeH="0" baseline="0" noProof="0">
                <a:ln>
                  <a:noFill/>
                </a:ln>
                <a:solidFill>
                  <a:srgbClr val="006E74"/>
                </a:solidFill>
                <a:effectLst/>
                <a:uLnTx/>
                <a:uFillTx/>
                <a:latin typeface="Arial"/>
                <a:ea typeface="+mn-ea"/>
                <a:cs typeface="+mn-cs"/>
              </a:rPr>
              <a:t>Of human effort reduced to trace and isolate errors</a:t>
            </a:r>
            <a:endParaRPr kumimoji="0" lang="en-IN" sz="1600" b="0" i="0" u="none" strike="noStrike" kern="1200" cap="none" spc="0" normalizeH="0" baseline="0" noProof="0">
              <a:ln>
                <a:noFill/>
              </a:ln>
              <a:solidFill>
                <a:srgbClr val="006E74"/>
              </a:solidFill>
              <a:effectLst/>
              <a:uLnTx/>
              <a:uFillTx/>
              <a:latin typeface="Arial"/>
              <a:ea typeface="+mn-ea"/>
              <a:cs typeface="+mn-cs"/>
            </a:endParaRPr>
          </a:p>
        </p:txBody>
      </p:sp>
      <p:sp>
        <p:nvSpPr>
          <p:cNvPr id="35" name="TextBox 34">
            <a:extLst>
              <a:ext uri="{FF2B5EF4-FFF2-40B4-BE49-F238E27FC236}">
                <a16:creationId xmlns:a16="http://schemas.microsoft.com/office/drawing/2014/main" id="{9AD76EA7-579F-4E55-A335-AFD915F69FA5}"/>
              </a:ext>
            </a:extLst>
          </p:cNvPr>
          <p:cNvSpPr txBox="1"/>
          <p:nvPr/>
        </p:nvSpPr>
        <p:spPr>
          <a:xfrm>
            <a:off x="9795441" y="4731891"/>
            <a:ext cx="1628420"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kumimoji="0" lang="en-US" sz="3600" b="0" i="0" u="none" strike="noStrike" kern="1200" cap="none" spc="0" normalizeH="0" baseline="0" noProof="0">
                <a:ln>
                  <a:noFill/>
                </a:ln>
                <a:solidFill>
                  <a:srgbClr val="006E74"/>
                </a:solidFill>
                <a:effectLst/>
                <a:uLnTx/>
                <a:uFillTx/>
                <a:latin typeface="Arial"/>
                <a:ea typeface="+mn-ea"/>
                <a:cs typeface="+mn-cs"/>
              </a:rPr>
              <a:t>15+</a:t>
            </a:r>
            <a:endParaRPr kumimoji="0" lang="en-IN" sz="3600" b="0" i="0" u="none" strike="noStrike" kern="1200" cap="none" spc="0" normalizeH="0" baseline="0" noProof="0">
              <a:ln>
                <a:noFill/>
              </a:ln>
              <a:solidFill>
                <a:srgbClr val="006E74"/>
              </a:solidFill>
              <a:effectLst/>
              <a:uLnTx/>
              <a:uFillTx/>
              <a:latin typeface="Arial"/>
              <a:ea typeface="+mn-ea"/>
              <a:cs typeface="+mn-cs"/>
            </a:endParaRPr>
          </a:p>
        </p:txBody>
      </p:sp>
      <p:sp>
        <p:nvSpPr>
          <p:cNvPr id="36" name="TextBox 35">
            <a:extLst>
              <a:ext uri="{FF2B5EF4-FFF2-40B4-BE49-F238E27FC236}">
                <a16:creationId xmlns:a16="http://schemas.microsoft.com/office/drawing/2014/main" id="{2BB431D8-39C8-4B31-A064-B85FF133CF73}"/>
              </a:ext>
            </a:extLst>
          </p:cNvPr>
          <p:cNvSpPr txBox="1"/>
          <p:nvPr/>
        </p:nvSpPr>
        <p:spPr>
          <a:xfrm>
            <a:off x="9530618" y="5377729"/>
            <a:ext cx="2158066" cy="4621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1200"/>
              </a:spcBef>
              <a:spcAft>
                <a:spcPts val="0"/>
              </a:spcAft>
              <a:buClrTx/>
              <a:buSzPct val="100000"/>
              <a:buFontTx/>
              <a:buNone/>
              <a:tabLst/>
              <a:defRPr/>
            </a:pPr>
            <a:r>
              <a:rPr lang="en-US" sz="1600">
                <a:solidFill>
                  <a:srgbClr val="006E74"/>
                </a:solidFill>
                <a:latin typeface="Arial"/>
              </a:rPr>
              <a:t>Platforms brought under observability in the first six months</a:t>
            </a:r>
            <a:endParaRPr kumimoji="0" lang="en-IN" sz="1600" b="0" i="0" u="none" strike="noStrike" kern="1200" cap="none" spc="0" normalizeH="0" baseline="0" noProof="0">
              <a:ln>
                <a:noFill/>
              </a:ln>
              <a:solidFill>
                <a:srgbClr val="006E74"/>
              </a:solidFill>
              <a:effectLst/>
              <a:uLnTx/>
              <a:uFillTx/>
              <a:latin typeface="Arial"/>
              <a:ea typeface="+mn-ea"/>
              <a:cs typeface="+mn-cs"/>
            </a:endParaRPr>
          </a:p>
        </p:txBody>
      </p:sp>
      <p:sp>
        <p:nvSpPr>
          <p:cNvPr id="5" name="Text Placeholder 3">
            <a:extLst>
              <a:ext uri="{FF2B5EF4-FFF2-40B4-BE49-F238E27FC236}">
                <a16:creationId xmlns:a16="http://schemas.microsoft.com/office/drawing/2014/main" id="{CE2B92E2-A253-9FDB-087A-CED5D397EE69}"/>
              </a:ext>
            </a:extLst>
          </p:cNvPr>
          <p:cNvSpPr txBox="1">
            <a:spLocks/>
          </p:cNvSpPr>
          <p:nvPr/>
        </p:nvSpPr>
        <p:spPr>
          <a:xfrm>
            <a:off x="325826" y="1782321"/>
            <a:ext cx="2922826" cy="628153"/>
          </a:xfrm>
          <a:prstGeom prst="rect">
            <a:avLst/>
          </a:prstGeom>
        </p:spPr>
        <p:txBody>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000" b="1">
                <a:latin typeface="Arial" panose="020B0604020202020204" pitchFamily="34" charset="0"/>
                <a:ea typeface="Gulim" panose="020B0600000101010101" pitchFamily="34" charset="-127"/>
                <a:cs typeface="Arial" panose="020B0604020202020204" pitchFamily="34" charset="0"/>
              </a:rPr>
              <a:t>Platform Profiling &amp; Observability Implementation</a:t>
            </a:r>
            <a:endParaRPr kumimoji="0" lang="en-US" sz="2000" b="1" i="0" u="none" strike="noStrike" kern="1200" cap="none" spc="0" normalizeH="0" baseline="0" noProof="0">
              <a:ln>
                <a:noFill/>
              </a:ln>
              <a:effectLst/>
              <a:uLnTx/>
              <a:uFillTx/>
              <a:latin typeface="Arial" panose="020B0604020202020204" pitchFamily="34" charset="0"/>
              <a:ea typeface="Gulim" panose="020B0600000101010101" pitchFamily="34" charset="-127"/>
              <a:cs typeface="Arial" panose="020B0604020202020204" pitchFamily="34" charset="0"/>
            </a:endParaRPr>
          </a:p>
        </p:txBody>
      </p:sp>
      <p:pic>
        <p:nvPicPr>
          <p:cNvPr id="4" name="Picture 3" descr="A graphic of a diagram&#10;&#10;Description automatically generated with medium confidence">
            <a:extLst>
              <a:ext uri="{FF2B5EF4-FFF2-40B4-BE49-F238E27FC236}">
                <a16:creationId xmlns:a16="http://schemas.microsoft.com/office/drawing/2014/main" id="{FD697B9D-448B-2806-CD95-38E4C99B2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5728" y="658426"/>
            <a:ext cx="6176040" cy="3068573"/>
          </a:xfrm>
          <a:prstGeom prst="rect">
            <a:avLst/>
          </a:prstGeom>
        </p:spPr>
      </p:pic>
      <p:sp>
        <p:nvSpPr>
          <p:cNvPr id="21" name="Rectangle: Rounded Corners 20">
            <a:extLst>
              <a:ext uri="{FF2B5EF4-FFF2-40B4-BE49-F238E27FC236}">
                <a16:creationId xmlns:a16="http://schemas.microsoft.com/office/drawing/2014/main" id="{CA7B4350-12B5-46EB-9FDF-E52B1094C45C}"/>
              </a:ext>
            </a:extLst>
          </p:cNvPr>
          <p:cNvSpPr/>
          <p:nvPr/>
        </p:nvSpPr>
        <p:spPr>
          <a:xfrm>
            <a:off x="9652873" y="658426"/>
            <a:ext cx="2539128" cy="3068573"/>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50" i="0" u="none" strike="noStrike" kern="1200" cap="none" spc="0" normalizeH="0" baseline="0" noProof="0">
                <a:ln>
                  <a:noFill/>
                </a:ln>
                <a:solidFill>
                  <a:schemeClr val="tx1"/>
                </a:solidFill>
                <a:effectLst/>
                <a:uLnTx/>
                <a:uFillTx/>
                <a:latin typeface="Arial"/>
                <a:ea typeface="+mn-ea"/>
                <a:cs typeface="+mn-cs"/>
              </a:rPr>
              <a:t>Platform </a:t>
            </a:r>
            <a:r>
              <a:rPr kumimoji="0" lang="en-US" sz="1250" b="1" i="0" u="none" strike="noStrike" kern="1200" cap="none" spc="0" normalizeH="0" baseline="0" noProof="0">
                <a:ln>
                  <a:noFill/>
                </a:ln>
                <a:solidFill>
                  <a:schemeClr val="accent1">
                    <a:lumMod val="75000"/>
                  </a:schemeClr>
                </a:solidFill>
                <a:effectLst/>
                <a:uLnTx/>
                <a:uFillTx/>
                <a:latin typeface="Arial"/>
                <a:ea typeface="+mn-ea"/>
                <a:cs typeface="+mn-cs"/>
              </a:rPr>
              <a:t>assessment</a:t>
            </a:r>
            <a:r>
              <a:rPr kumimoji="0" lang="en-US" sz="1250" i="0" u="none" strike="noStrike" kern="1200" cap="none" spc="0" normalizeH="0" baseline="0" noProof="0">
                <a:ln>
                  <a:noFill/>
                </a:ln>
                <a:solidFill>
                  <a:schemeClr val="tx1"/>
                </a:solidFill>
                <a:effectLst/>
                <a:uLnTx/>
                <a:uFillTx/>
                <a:latin typeface="Arial"/>
                <a:ea typeface="+mn-ea"/>
                <a:cs typeface="+mn-cs"/>
              </a:rPr>
              <a:t> followed by </a:t>
            </a:r>
            <a:r>
              <a:rPr lang="en-US" sz="1250" b="1">
                <a:solidFill>
                  <a:schemeClr val="accent1">
                    <a:lumMod val="75000"/>
                  </a:schemeClr>
                </a:solidFill>
                <a:latin typeface="Arial"/>
              </a:rPr>
              <a:t>profiling</a:t>
            </a:r>
            <a:r>
              <a:rPr kumimoji="0" lang="en-US" sz="1250" i="0" u="none" strike="noStrike" kern="1200" cap="none" spc="0" normalizeH="0" baseline="0" noProof="0">
                <a:ln>
                  <a:noFill/>
                </a:ln>
                <a:solidFill>
                  <a:schemeClr val="tx1"/>
                </a:solidFill>
                <a:effectLst/>
                <a:uLnTx/>
                <a:uFillTx/>
                <a:latin typeface="Arial"/>
                <a:ea typeface="+mn-ea"/>
                <a:cs typeface="+mn-cs"/>
              </a:rPr>
              <a:t> enabled the identification of Key Performance Indicators (</a:t>
            </a:r>
            <a:r>
              <a:rPr lang="en-US" sz="1250" b="1">
                <a:solidFill>
                  <a:schemeClr val="accent1">
                    <a:lumMod val="75000"/>
                  </a:schemeClr>
                </a:solidFill>
                <a:latin typeface="Arial"/>
              </a:rPr>
              <a:t>KPI</a:t>
            </a:r>
            <a:r>
              <a:rPr kumimoji="0" lang="en-US" sz="1250" i="0" u="none" strike="noStrike" kern="1200" cap="none" spc="0" normalizeH="0" baseline="0" noProof="0">
                <a:ln>
                  <a:noFill/>
                </a:ln>
                <a:solidFill>
                  <a:schemeClr val="tx1"/>
                </a:solidFill>
                <a:effectLst/>
                <a:uLnTx/>
                <a:uFillTx/>
                <a:latin typeface="Arial"/>
                <a:ea typeface="+mn-ea"/>
                <a:cs typeface="+mn-cs"/>
              </a:rPr>
              <a:t>), Service Level Indicators (</a:t>
            </a:r>
            <a:r>
              <a:rPr lang="en-US" sz="1250" b="1">
                <a:solidFill>
                  <a:schemeClr val="accent1">
                    <a:lumMod val="75000"/>
                  </a:schemeClr>
                </a:solidFill>
                <a:latin typeface="Arial"/>
              </a:rPr>
              <a:t>SLI</a:t>
            </a:r>
            <a:r>
              <a:rPr kumimoji="0" lang="en-US" sz="1250" i="0" u="none" strike="noStrike" kern="1200" cap="none" spc="0" normalizeH="0" baseline="0" noProof="0">
                <a:ln>
                  <a:noFill/>
                </a:ln>
                <a:solidFill>
                  <a:schemeClr val="tx1"/>
                </a:solidFill>
                <a:effectLst/>
                <a:uLnTx/>
                <a:uFillTx/>
                <a:latin typeface="Arial"/>
                <a:ea typeface="+mn-ea"/>
                <a:cs typeface="+mn-cs"/>
              </a:rPr>
              <a:t>), Service Level Objectives (</a:t>
            </a:r>
            <a:r>
              <a:rPr lang="en-US" sz="1250" b="1">
                <a:solidFill>
                  <a:schemeClr val="accent1">
                    <a:lumMod val="75000"/>
                  </a:schemeClr>
                </a:solidFill>
                <a:latin typeface="Arial"/>
              </a:rPr>
              <a:t>SLO</a:t>
            </a:r>
            <a:r>
              <a:rPr kumimoji="0" lang="en-US" sz="1250" i="0" u="none" strike="noStrike" kern="1200" cap="none" spc="0" normalizeH="0" baseline="0" noProof="0">
                <a:ln>
                  <a:noFill/>
                </a:ln>
                <a:solidFill>
                  <a:schemeClr val="tx1"/>
                </a:solidFill>
                <a:effectLst/>
                <a:uLnTx/>
                <a:uFillTx/>
                <a:latin typeface="Arial"/>
                <a:ea typeface="+mn-ea"/>
                <a:cs typeface="+mn-cs"/>
              </a:rPr>
              <a:t>) and </a:t>
            </a:r>
            <a:r>
              <a:rPr lang="en-US" sz="1250" b="1">
                <a:solidFill>
                  <a:schemeClr val="accent1">
                    <a:lumMod val="75000"/>
                  </a:schemeClr>
                </a:solidFill>
                <a:latin typeface="Arial"/>
              </a:rPr>
              <a:t>alerts</a:t>
            </a:r>
            <a:r>
              <a:rPr kumimoji="0" lang="en-US" sz="1250" i="0" u="none" strike="noStrike" kern="1200" cap="none" spc="0" normalizeH="0" baseline="0" noProof="0">
                <a:ln>
                  <a:noFill/>
                </a:ln>
                <a:solidFill>
                  <a:schemeClr val="tx1"/>
                </a:solidFill>
                <a:effectLst/>
                <a:uLnTx/>
                <a:uFillTx/>
                <a:latin typeface="Arial"/>
                <a:ea typeface="+mn-ea"/>
                <a:cs typeface="+mn-cs"/>
              </a:rPr>
              <a:t>.​ </a:t>
            </a:r>
            <a:r>
              <a:rPr lang="en-US" sz="1250">
                <a:solidFill>
                  <a:schemeClr val="tx1"/>
                </a:solidFill>
                <a:latin typeface="Arial"/>
              </a:rPr>
              <a:t>Multi-persona</a:t>
            </a:r>
            <a:r>
              <a:rPr lang="en-US" sz="1250" b="1">
                <a:solidFill>
                  <a:schemeClr val="accent1">
                    <a:lumMod val="75000"/>
                  </a:schemeClr>
                </a:solidFill>
                <a:latin typeface="Arial"/>
              </a:rPr>
              <a:t> observability dashboards </a:t>
            </a:r>
            <a:r>
              <a:rPr kumimoji="0" lang="en-US" sz="1250" i="0" u="none" strike="noStrike" kern="1200" cap="none" spc="0" normalizeH="0" baseline="0" noProof="0">
                <a:ln>
                  <a:noFill/>
                </a:ln>
                <a:solidFill>
                  <a:schemeClr val="tx1"/>
                </a:solidFill>
                <a:effectLst/>
                <a:uLnTx/>
                <a:uFillTx/>
                <a:latin typeface="Arial"/>
                <a:ea typeface="+mn-ea"/>
                <a:cs typeface="+mn-cs"/>
              </a:rPr>
              <a:t>built in </a:t>
            </a:r>
            <a:r>
              <a:rPr lang="en-US" sz="1250" b="1">
                <a:solidFill>
                  <a:schemeClr val="accent1">
                    <a:lumMod val="75000"/>
                  </a:schemeClr>
                </a:solidFill>
                <a:latin typeface="Arial"/>
              </a:rPr>
              <a:t>Grafana</a:t>
            </a:r>
            <a:r>
              <a:rPr kumimoji="0" lang="en-US" sz="1250" i="0" u="none" strike="noStrike" kern="1200" cap="none" spc="0" normalizeH="0" baseline="0" noProof="0">
                <a:ln>
                  <a:noFill/>
                </a:ln>
                <a:solidFill>
                  <a:schemeClr val="tx1"/>
                </a:solidFill>
                <a:effectLst/>
                <a:uLnTx/>
                <a:uFillTx/>
                <a:latin typeface="Arial"/>
                <a:ea typeface="+mn-ea"/>
                <a:cs typeface="+mn-cs"/>
              </a:rPr>
              <a:t> with </a:t>
            </a:r>
            <a:r>
              <a:rPr lang="en-US" sz="1250" b="1">
                <a:solidFill>
                  <a:schemeClr val="accent1">
                    <a:lumMod val="75000"/>
                  </a:schemeClr>
                </a:solidFill>
                <a:latin typeface="Arial"/>
              </a:rPr>
              <a:t>Elasticsearch</a:t>
            </a:r>
            <a:r>
              <a:rPr kumimoji="0" lang="en-US" sz="1250" i="0" u="none" strike="noStrike" kern="1200" cap="none" spc="0" normalizeH="0" baseline="0" noProof="0">
                <a:ln>
                  <a:noFill/>
                </a:ln>
                <a:solidFill>
                  <a:schemeClr val="tx1"/>
                </a:solidFill>
                <a:effectLst/>
                <a:uLnTx/>
                <a:uFillTx/>
                <a:latin typeface="Arial"/>
                <a:ea typeface="+mn-ea"/>
                <a:cs typeface="+mn-cs"/>
              </a:rPr>
              <a:t> as data source proved highly beneficial to platform teams. Grafana served as </a:t>
            </a:r>
            <a:r>
              <a:rPr lang="en-US" sz="1250" b="1">
                <a:solidFill>
                  <a:schemeClr val="accent1">
                    <a:lumMod val="75000"/>
                  </a:schemeClr>
                </a:solidFill>
                <a:latin typeface="Arial"/>
              </a:rPr>
              <a:t>centralized system</a:t>
            </a:r>
            <a:r>
              <a:rPr kumimoji="0" lang="en-US" sz="1250" i="0" u="none" strike="noStrike" kern="1200" cap="none" spc="0" normalizeH="0" baseline="0" noProof="0">
                <a:ln>
                  <a:noFill/>
                </a:ln>
                <a:solidFill>
                  <a:schemeClr val="tx1"/>
                </a:solidFill>
                <a:effectLst/>
                <a:uLnTx/>
                <a:uFillTx/>
                <a:latin typeface="Arial"/>
                <a:ea typeface="+mn-ea"/>
                <a:cs typeface="+mn-cs"/>
              </a:rPr>
              <a:t> for all observability needs.</a:t>
            </a:r>
          </a:p>
        </p:txBody>
      </p:sp>
      <p:sp>
        <p:nvSpPr>
          <p:cNvPr id="3" name="Rectangle: Rounded Corners 2">
            <a:extLst>
              <a:ext uri="{FF2B5EF4-FFF2-40B4-BE49-F238E27FC236}">
                <a16:creationId xmlns:a16="http://schemas.microsoft.com/office/drawing/2014/main" id="{72B5D55B-5555-5A28-D187-D46A48941323}"/>
              </a:ext>
            </a:extLst>
          </p:cNvPr>
          <p:cNvSpPr/>
          <p:nvPr/>
        </p:nvSpPr>
        <p:spPr>
          <a:xfrm>
            <a:off x="389190" y="267128"/>
            <a:ext cx="2796095" cy="674041"/>
          </a:xfrm>
          <a:prstGeom prst="round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IN" sz="1800" b="1" dirty="0"/>
              <a:t>CASE STUDY</a:t>
            </a:r>
          </a:p>
        </p:txBody>
      </p:sp>
    </p:spTree>
    <p:extLst>
      <p:ext uri="{BB962C8B-B14F-4D97-AF65-F5344CB8AC3E}">
        <p14:creationId xmlns:p14="http://schemas.microsoft.com/office/powerpoint/2010/main" val="4294629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E60B5C4-C786-9C42-9C5E-50308DF553FF}"/>
              </a:ext>
            </a:extLst>
          </p:cNvPr>
          <p:cNvSpPr>
            <a:spLocks noGrp="1"/>
          </p:cNvSpPr>
          <p:nvPr>
            <p:ph type="title"/>
          </p:nvPr>
        </p:nvSpPr>
        <p:spPr>
          <a:xfrm>
            <a:off x="1537014" y="1562700"/>
            <a:ext cx="8503920" cy="2103120"/>
          </a:xfrm>
        </p:spPr>
        <p:txBody>
          <a:bodyPr/>
          <a:lstStyle/>
          <a:p>
            <a:r>
              <a:rPr lang="en-US" dirty="0"/>
              <a:t>Thank you!</a:t>
            </a:r>
          </a:p>
        </p:txBody>
      </p:sp>
    </p:spTree>
    <p:extLst>
      <p:ext uri="{BB962C8B-B14F-4D97-AF65-F5344CB8AC3E}">
        <p14:creationId xmlns:p14="http://schemas.microsoft.com/office/powerpoint/2010/main" val="172686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7_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C576456041084092360FFC9782508E" ma:contentTypeVersion="13" ma:contentTypeDescription="Create a new document." ma:contentTypeScope="" ma:versionID="45e04440fbda9b6d59e6d7611dc39b69">
  <xsd:schema xmlns:xsd="http://www.w3.org/2001/XMLSchema" xmlns:xs="http://www.w3.org/2001/XMLSchema" xmlns:p="http://schemas.microsoft.com/office/2006/metadata/properties" xmlns:ns2="8b63ccb3-7e0f-47c2-a01e-68315761fc16" xmlns:ns3="c5e546e7-695d-4012-b4c8-4f94a6e528a5" targetNamespace="http://schemas.microsoft.com/office/2006/metadata/properties" ma:root="true" ma:fieldsID="669abbd0f9875c400c738ef655293603" ns2:_="" ns3:_="">
    <xsd:import namespace="8b63ccb3-7e0f-47c2-a01e-68315761fc16"/>
    <xsd:import namespace="c5e546e7-695d-4012-b4c8-4f94a6e528a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63ccb3-7e0f-47c2-a01e-68315761fc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5e546e7-695d-4012-b4c8-4f94a6e528a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154ae49-b072-44cc-b176-113d0b9c931b}" ma:internalName="TaxCatchAll" ma:showField="CatchAllData" ma:web="c5e546e7-695d-4012-b4c8-4f94a6e528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63ccb3-7e0f-47c2-a01e-68315761fc16">
      <Terms xmlns="http://schemas.microsoft.com/office/infopath/2007/PartnerControls"/>
    </lcf76f155ced4ddcb4097134ff3c332f>
    <TaxCatchAll xmlns="c5e546e7-695d-4012-b4c8-4f94a6e528a5" xsi:nil="true"/>
  </documentManagement>
</p:properties>
</file>

<file path=customXml/itemProps1.xml><?xml version="1.0" encoding="utf-8"?>
<ds:datastoreItem xmlns:ds="http://schemas.openxmlformats.org/officeDocument/2006/customXml" ds:itemID="{CBD0837C-3B42-4885-B97E-FD54E2F8D2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63ccb3-7e0f-47c2-a01e-68315761fc16"/>
    <ds:schemaRef ds:uri="c5e546e7-695d-4012-b4c8-4f94a6e528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138BD8-C8A4-4746-908D-989234BA6FFB}">
  <ds:schemaRefs>
    <ds:schemaRef ds:uri="http://schemas.microsoft.com/sharepoint/v3/contenttype/forms"/>
  </ds:schemaRefs>
</ds:datastoreItem>
</file>

<file path=customXml/itemProps3.xml><?xml version="1.0" encoding="utf-8"?>
<ds:datastoreItem xmlns:ds="http://schemas.openxmlformats.org/officeDocument/2006/customXml" ds:itemID="{3214740B-D277-4B8A-9556-398D29B33A0D}">
  <ds:schemaRefs>
    <ds:schemaRef ds:uri="c9119209-0699-417f-9d52-2db6446b5d94"/>
    <ds:schemaRef ds:uri="http://www.w3.org/XML/1998/namespace"/>
    <ds:schemaRef ds:uri="http://schemas.microsoft.com/office/2006/documentManagement/types"/>
    <ds:schemaRef ds:uri="http://purl.org/dc/dcmitype/"/>
    <ds:schemaRef ds:uri="http://purl.org/dc/elements/1.1/"/>
    <ds:schemaRef ds:uri="http://purl.org/dc/terms/"/>
    <ds:schemaRef ds:uri="http://schemas.microsoft.com/office/infopath/2007/PartnerControls"/>
    <ds:schemaRef ds:uri="http://schemas.openxmlformats.org/package/2006/metadata/core-properties"/>
    <ds:schemaRef ds:uri="62758f71-722c-46a5-b514-6c132f3f51e5"/>
    <ds:schemaRef ds:uri="http://schemas.microsoft.com/office/2006/metadata/properties"/>
    <ds:schemaRef ds:uri="8b63ccb3-7e0f-47c2-a01e-68315761fc16"/>
    <ds:schemaRef ds:uri="c5e546e7-695d-4012-b4c8-4f94a6e528a5"/>
  </ds:schemaRefs>
</ds:datastoreItem>
</file>

<file path=docProps/app.xml><?xml version="1.0" encoding="utf-8"?>
<Properties xmlns="http://schemas.openxmlformats.org/officeDocument/2006/extended-properties" xmlns:vt="http://schemas.openxmlformats.org/officeDocument/2006/docPropsVTypes">
  <Template/>
  <TotalTime>11140</TotalTime>
  <Words>1416</Words>
  <Application>Microsoft Office PowerPoint</Application>
  <PresentationFormat>Widescreen</PresentationFormat>
  <Paragraphs>242</Paragraphs>
  <Slides>19</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Aptos</vt:lpstr>
      <vt:lpstr>Aptos Display</vt:lpstr>
      <vt:lpstr>Arial</vt:lpstr>
      <vt:lpstr>Calibri</vt:lpstr>
      <vt:lpstr>Gabriola</vt:lpstr>
      <vt:lpstr>Myriad Pro Regular</vt:lpstr>
      <vt:lpstr>Wingdings</vt:lpstr>
      <vt:lpstr>office theme</vt:lpstr>
      <vt:lpstr>7_UST</vt:lpstr>
      <vt:lpstr>Site Reliability Engineering (SRE)  The journey starts here..</vt:lpstr>
      <vt:lpstr>“Site Reliability Engineers must see the system as a whole and treat its interconnections with as much attention and respect as the components themselves”</vt:lpstr>
      <vt:lpstr>What is Site Reliability Engineering?</vt:lpstr>
      <vt:lpstr>History of SRE</vt:lpstr>
      <vt:lpstr>Core Principles</vt:lpstr>
      <vt:lpstr>DevOps vs SRE</vt:lpstr>
      <vt:lpstr>DevOps and SRE</vt:lpstr>
      <vt:lpstr>Key Concepts of SRE</vt:lpstr>
      <vt:lpstr>Golden Signals of SRE</vt:lpstr>
      <vt:lpstr>Monitoring</vt:lpstr>
      <vt:lpstr>Observability</vt:lpstr>
      <vt:lpstr>Outputs of a good monitoring system</vt:lpstr>
      <vt:lpstr>Alert design considerations</vt:lpstr>
      <vt:lpstr>Incident Response</vt:lpstr>
      <vt:lpstr>Structured Incident Response</vt:lpstr>
      <vt:lpstr>Post-mortems</vt:lpstr>
      <vt:lpstr>SRE: Roles and Responsibilities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Shankar Mani(UST,IN)</dc:creator>
  <cp:lastModifiedBy>Pradeep Iyer(UST,US)</cp:lastModifiedBy>
  <cp:revision>84</cp:revision>
  <dcterms:created xsi:type="dcterms:W3CDTF">2023-12-20T08:48:24Z</dcterms:created>
  <dcterms:modified xsi:type="dcterms:W3CDTF">2024-08-07T04:07:36Z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0x0101009EC576456041084092360FFC9782508E</vt:lpwstr>
  </property>
  <property fmtid="{D5CDD505-2E9C-101B-9397-08002B2CF9AE}" pid="3" name="MediaServiceImageTags">
    <vt:lpwstr/>
  </property>
</Properties>
</file>